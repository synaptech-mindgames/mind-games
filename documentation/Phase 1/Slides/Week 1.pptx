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12192000"/>
  <p:embeddedFontLst>
    <p:embeddedFont>
      <p:font typeface="Roboto"/>
      <p:regular r:id="rId26"/>
      <p:bold r:id="rId27"/>
      <p:italic r:id="rId28"/>
      <p:boldItalic r:id="rId29"/>
    </p:embeddedFont>
    <p:embeddedFont>
      <p:font typeface="DM Sans"/>
      <p:regular r:id="rId30"/>
      <p:bold r:id="rId31"/>
      <p:italic r:id="rId32"/>
      <p:boldItalic r:id="rId33"/>
    </p:embeddedFont>
    <p:embeddedFont>
      <p:font typeface="Space Grotesk"/>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slide" Target="slides/slide21.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DMSans-bold.fntdata"/><Relationship Id="rId30" Type="http://schemas.openxmlformats.org/officeDocument/2006/relationships/font" Target="fonts/DMSans-regular.fntdata"/><Relationship Id="rId11" Type="http://schemas.openxmlformats.org/officeDocument/2006/relationships/slide" Target="slides/slide7.xml"/><Relationship Id="rId33" Type="http://schemas.openxmlformats.org/officeDocument/2006/relationships/font" Target="fonts/DMSans-boldItalic.fntdata"/><Relationship Id="rId10" Type="http://schemas.openxmlformats.org/officeDocument/2006/relationships/slide" Target="slides/slide6.xml"/><Relationship Id="rId32" Type="http://schemas.openxmlformats.org/officeDocument/2006/relationships/font" Target="fonts/DMSans-italic.fntdata"/><Relationship Id="rId13" Type="http://schemas.openxmlformats.org/officeDocument/2006/relationships/slide" Target="slides/slide9.xml"/><Relationship Id="rId35" Type="http://schemas.openxmlformats.org/officeDocument/2006/relationships/font" Target="fonts/SpaceGrotesk-bold.fntdata"/><Relationship Id="rId12" Type="http://schemas.openxmlformats.org/officeDocument/2006/relationships/slide" Target="slides/slide8.xml"/><Relationship Id="rId34" Type="http://schemas.openxmlformats.org/officeDocument/2006/relationships/font" Target="fonts/SpaceGrotesk-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Welcome everyone. Quick intro to the project, how we’re organized, and what to do this week.</a:t>
            </a:r>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calmer player wins. Trying hard to win makes you tense, which makes you lose. That tension is what makes the game fun.</a:t>
            </a:r>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Understanding both the neuroscience and the code is the point, not just getting a ball to move.</a:t>
            </a:r>
            <a:endParaRPr/>
          </a:p>
        </p:txBody>
      </p:sp>
      <p:sp>
        <p:nvSpPr>
          <p:cNvPr id="42" name="Google Shape;4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60e00c2009b80bdb_3_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49" name="Google Shape;49;h60e00c2009b80bdb_3_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 separate neuro and build teams. Every group goes from research to a working build.</a:t>
            </a:r>
            <a:endParaRPr/>
          </a:p>
        </p:txBody>
      </p:sp>
      <p:sp>
        <p:nvSpPr>
          <p:cNvPr id="56" name="Google Shape;5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60e00c2009b80bdb_1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h60e00c2009b80bdb_1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 separate neuro and build teams. Every group goes from research to a working build.</a:t>
            </a:r>
            <a:endParaRPr/>
          </a:p>
        </p:txBody>
      </p:sp>
      <p:sp>
        <p:nvSpPr>
          <p:cNvPr id="63" name="Google Shape;63;h60e00c2009b80bdb_1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code itself is small. Most of the work is testing whether our score really measures relaxation. Games are developed on recorded data, so the single headset only matters for live testing.</a:t>
            </a:r>
            <a:endParaRPr/>
          </a:p>
        </p:txBody>
      </p:sp>
      <p:sp>
        <p:nvSpPr>
          <p:cNvPr id="83" name="Google Shape;8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first groups are for learning. The second groups are for interest, so people can move to the game they’re most excited about.</a:t>
            </a:r>
            <a:endParaRPr/>
          </a:p>
        </p:txBody>
      </p:sp>
      <p:sp>
        <p:nvSpPr>
          <p:cNvPr id="105" name="Google Shape;10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60e00c2009b80bdb_3_3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60e00c2009b80bdb_3_3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60e00c2009b80bdb_3_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60e00c2009b80bdb_3_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60e00c2009b80bdb_3_1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60e00c2009b80bdb_3_1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60e00c2009b80bdb_3_1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60e00c2009b80bdb_3_1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60e00c2009b80bdb_3_2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60e00c2009b80bdb_3_2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60e00c2009b80bdb_3_2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60e00c2009b80bdb_3_2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h60e00c2009b80bdb_3_3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h60e00c2009b80bdb_3_3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60e00c2009b80bdb_1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h60e00c2009b80bdb_1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Share the form link and the Discord and GitHub invites here.</a:t>
            </a:r>
            <a:endParaRPr/>
          </a:p>
        </p:txBody>
      </p:sp>
      <p:sp>
        <p:nvSpPr>
          <p:cNvPr id="172" name="Google Shape;172;h60e00c2009b80bdb_1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60e00c2009b80bdb_1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h60e00c2009b80bdb_1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Share the form link and the Discord and GitHub invites here.</a:t>
            </a:r>
            <a:endParaRPr/>
          </a:p>
        </p:txBody>
      </p:sp>
      <p:sp>
        <p:nvSpPr>
          <p:cNvPr id="183" name="Google Shape;183;h60e00c2009b80bdb_1_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60e00c2009b80bdb_1_6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60e00c2009b80bdb_1_6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60e00c2009b80bdb_1_1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h60e00c2009b80bdb_1_1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Share the form link and the Discord and GitHub invites here.</a:t>
            </a:r>
            <a:endParaRPr/>
          </a:p>
        </p:txBody>
      </p:sp>
      <p:sp>
        <p:nvSpPr>
          <p:cNvPr id="208" name="Google Shape;208;h60e00c2009b80bdb_1_1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60e00c2009b80bdb_1_1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h60e00c2009b80bdb_1_1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Share the form link and the Discord and GitHub invites here.</a:t>
            </a:r>
            <a:endParaRPr/>
          </a:p>
        </p:txBody>
      </p:sp>
      <p:sp>
        <p:nvSpPr>
          <p:cNvPr id="215" name="Google Shape;215;h60e00c2009b80bdb_1_1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Share the form link and the Discord and GitHub invites here.</a:t>
            </a:r>
            <a:endParaRPr/>
          </a:p>
        </p:txBody>
      </p:sp>
      <p:sp>
        <p:nvSpPr>
          <p:cNvPr id="227" name="Google Shape;22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6F5F1"/>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812800" y="812800"/>
            <a:ext cx="10566400" cy="502907"/>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4213D"/>
              </a:buClr>
              <a:buSzPts val="3600"/>
              <a:buFont typeface="Space Grotesk"/>
              <a:buNone/>
              <a:defRPr sz="3600">
                <a:solidFill>
                  <a:srgbClr val="14213D"/>
                </a:solidFill>
                <a:latin typeface="Space Grotesk"/>
                <a:ea typeface="Space Grotesk"/>
                <a:cs typeface="Space Grotesk"/>
                <a:sym typeface="Space Grotes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 name="Google Shape;10;p2"/>
          <p:cNvSpPr txBox="1"/>
          <p:nvPr>
            <p:ph idx="1" type="body"/>
          </p:nvPr>
        </p:nvSpPr>
        <p:spPr>
          <a:xfrm>
            <a:off x="812800" y="1620507"/>
            <a:ext cx="10566400" cy="4424693"/>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4213D"/>
              </a:buClr>
              <a:buSzPts val="1600"/>
              <a:buNone/>
              <a:defRPr sz="1600">
                <a:solidFill>
                  <a:srgbClr val="14213D"/>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812800"/>
            <a:ext cx="10566400" cy="502907"/>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4213D"/>
              </a:buClr>
              <a:buSzPts val="3600"/>
              <a:buFont typeface="Space Grotesk"/>
              <a:buNone/>
              <a:defRPr b="0" i="0" sz="3600" u="none" cap="none" strike="noStrike">
                <a:solidFill>
                  <a:srgbClr val="14213D"/>
                </a:solidFill>
                <a:latin typeface="Space Grotesk"/>
                <a:ea typeface="Space Grotesk"/>
                <a:cs typeface="Space Grotesk"/>
                <a:sym typeface="Space Grotes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12800" y="1620507"/>
            <a:ext cx="10566400" cy="4424693"/>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4213D"/>
              </a:buClr>
              <a:buSzPts val="1600"/>
              <a:buFont typeface="Arial"/>
              <a:buNone/>
              <a:defRPr b="0" i="0" sz="1600" u="none" cap="none" strike="noStrike">
                <a:solidFill>
                  <a:srgbClr val="14213D"/>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www.youtube.com/watch?v=7OJVZVd2q8I" TargetMode="Externa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hyperlink" Target="http://www.youtube.com/watch?v=TACu8y2T2ps" TargetMode="External"/><Relationship Id="rId7"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6" name="Shape 16"/>
        <p:cNvGrpSpPr/>
        <p:nvPr/>
      </p:nvGrpSpPr>
      <p:grpSpPr>
        <a:xfrm>
          <a:off x="0" y="0"/>
          <a:ext cx="0" cy="0"/>
          <a:chOff x="0" y="0"/>
          <a:chExt cx="0" cy="0"/>
        </a:xfrm>
      </p:grpSpPr>
      <p:pic>
        <p:nvPicPr>
          <p:cNvPr descr="Brain wave line" id="17" name="Google Shape;17;p4"/>
          <p:cNvPicPr preferRelativeResize="0"/>
          <p:nvPr/>
        </p:nvPicPr>
        <p:blipFill rotWithShape="1">
          <a:blip r:embed="rId3">
            <a:alphaModFix/>
          </a:blip>
          <a:srcRect b="0" l="0" r="0" t="0"/>
          <a:stretch/>
        </p:blipFill>
        <p:spPr>
          <a:xfrm>
            <a:off x="0" y="4953000"/>
            <a:ext cx="12192000" cy="1524000"/>
          </a:xfrm>
          <a:prstGeom prst="rect">
            <a:avLst/>
          </a:prstGeom>
          <a:noFill/>
          <a:ln>
            <a:noFill/>
          </a:ln>
        </p:spPr>
      </p:pic>
      <p:sp>
        <p:nvSpPr>
          <p:cNvPr id="18" name="Google Shape;18;p4"/>
          <p:cNvSpPr/>
          <p:nvPr/>
        </p:nvSpPr>
        <p:spPr>
          <a:xfrm>
            <a:off x="812800" y="2404137"/>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EC4B6"/>
              </a:buClr>
              <a:buSzPts val="1200"/>
              <a:buFont typeface="DM Sans"/>
              <a:buNone/>
            </a:pPr>
            <a:r>
              <a:rPr b="1" i="0" lang="en-US" sz="1200" u="none" cap="none" strike="noStrike">
                <a:solidFill>
                  <a:srgbClr val="2EC4B6"/>
                </a:solidFill>
                <a:latin typeface="DM Sans"/>
                <a:ea typeface="DM Sans"/>
                <a:cs typeface="DM Sans"/>
                <a:sym typeface="DM Sans"/>
              </a:rPr>
              <a:t>TEAM KICKOFF · AUTUMN 2026</a:t>
            </a:r>
            <a:endParaRPr b="0" i="0" sz="1200" u="none" cap="none" strike="noStrike">
              <a:solidFill>
                <a:schemeClr val="dk1"/>
              </a:solidFill>
              <a:latin typeface="DM Sans"/>
              <a:ea typeface="DM Sans"/>
              <a:cs typeface="DM Sans"/>
              <a:sym typeface="DM Sans"/>
            </a:endParaRPr>
          </a:p>
        </p:txBody>
      </p:sp>
      <p:sp>
        <p:nvSpPr>
          <p:cNvPr id="19" name="Google Shape;19;p4"/>
          <p:cNvSpPr txBox="1"/>
          <p:nvPr>
            <p:ph type="title"/>
          </p:nvPr>
        </p:nvSpPr>
        <p:spPr>
          <a:xfrm>
            <a:off x="812800" y="2820657"/>
            <a:ext cx="10883392" cy="10922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6F5F1"/>
              </a:buClr>
              <a:buSzPts val="8000"/>
              <a:buFont typeface="Space Grotesk"/>
              <a:buNone/>
            </a:pPr>
            <a:r>
              <a:rPr b="1" i="0" lang="en-US" sz="8000">
                <a:solidFill>
                  <a:srgbClr val="F6F5F1"/>
                </a:solidFill>
                <a:latin typeface="Space Grotesk"/>
                <a:ea typeface="Space Grotesk"/>
                <a:cs typeface="Space Grotesk"/>
                <a:sym typeface="Space Grotesk"/>
              </a:rPr>
              <a:t>Mindball</a:t>
            </a:r>
            <a:endParaRPr sz="8000"/>
          </a:p>
        </p:txBody>
      </p:sp>
      <p:sp>
        <p:nvSpPr>
          <p:cNvPr id="20" name="Google Shape;20;p4"/>
          <p:cNvSpPr/>
          <p:nvPr/>
        </p:nvSpPr>
        <p:spPr>
          <a:xfrm>
            <a:off x="812800" y="4090657"/>
            <a:ext cx="8502650" cy="3886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FD8D5"/>
              </a:buClr>
              <a:buSzPts val="2200"/>
              <a:buFont typeface="DM Sans"/>
              <a:buNone/>
            </a:pPr>
            <a:r>
              <a:rPr b="0" i="0" lang="en-US" sz="2200" u="none" cap="none" strike="noStrike">
                <a:solidFill>
                  <a:srgbClr val="BFD8D5"/>
                </a:solidFill>
                <a:latin typeface="DM Sans"/>
                <a:ea typeface="DM Sans"/>
                <a:cs typeface="DM Sans"/>
                <a:sym typeface="DM Sans"/>
              </a:rPr>
              <a:t>Recreating a brain-controlled game, then building our own</a:t>
            </a:r>
            <a:endParaRPr b="0" i="0" sz="2200" u="none" cap="none" strike="noStrike">
              <a:solidFill>
                <a:schemeClr val="dk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5" name="Shape 25"/>
        <p:cNvGrpSpPr/>
        <p:nvPr/>
      </p:nvGrpSpPr>
      <p:grpSpPr>
        <a:xfrm>
          <a:off x="0" y="0"/>
          <a:ext cx="0" cy="0"/>
          <a:chOff x="0" y="0"/>
          <a:chExt cx="0" cy="0"/>
        </a:xfrm>
      </p:grpSpPr>
      <p:sp>
        <p:nvSpPr>
          <p:cNvPr id="26" name="Google Shape;26;p5"/>
          <p:cNvSpPr txBox="1"/>
          <p:nvPr>
            <p:ph type="title"/>
          </p:nvPr>
        </p:nvSpPr>
        <p:spPr>
          <a:xfrm>
            <a:off x="812800" y="812800"/>
            <a:ext cx="10883392" cy="52830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What is Mindball?</a:t>
            </a:r>
            <a:endParaRPr sz="3600"/>
          </a:p>
        </p:txBody>
      </p:sp>
      <p:sp>
        <p:nvSpPr>
          <p:cNvPr id="27" name="Google Shape;27;p5"/>
          <p:cNvSpPr/>
          <p:nvPr/>
        </p:nvSpPr>
        <p:spPr>
          <a:xfrm>
            <a:off x="812800" y="1671307"/>
            <a:ext cx="9810750" cy="7518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4213D"/>
              </a:buClr>
              <a:buSzPts val="2200"/>
              <a:buFont typeface="DM Sans"/>
              <a:buNone/>
            </a:pPr>
            <a:r>
              <a:rPr lang="en-US" sz="2200">
                <a:solidFill>
                  <a:srgbClr val="14213D"/>
                </a:solidFill>
                <a:latin typeface="DM Sans"/>
                <a:ea typeface="DM Sans"/>
                <a:cs typeface="DM Sans"/>
                <a:sym typeface="DM Sans"/>
              </a:rPr>
              <a:t>Two players wear EEG headsets. The ball rolls away from whoever is more relaxed.</a:t>
            </a:r>
            <a:endParaRPr sz="2200">
              <a:solidFill>
                <a:schemeClr val="dk1"/>
              </a:solidFill>
              <a:latin typeface="DM Sans"/>
              <a:ea typeface="DM Sans"/>
              <a:cs typeface="DM Sans"/>
              <a:sym typeface="DM Sans"/>
            </a:endParaRPr>
          </a:p>
        </p:txBody>
      </p:sp>
      <p:sp>
        <p:nvSpPr>
          <p:cNvPr id="28" name="Google Shape;28;p5"/>
          <p:cNvSpPr/>
          <p:nvPr/>
        </p:nvSpPr>
        <p:spPr>
          <a:xfrm>
            <a:off x="819150" y="2759670"/>
            <a:ext cx="2967567" cy="1480741"/>
          </a:xfrm>
          <a:prstGeom prst="roundRect">
            <a:avLst>
              <a:gd fmla="val 6433"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9" name="Google Shape;29;p5"/>
          <p:cNvSpPr/>
          <p:nvPr/>
        </p:nvSpPr>
        <p:spPr>
          <a:xfrm>
            <a:off x="1079500" y="3020020"/>
            <a:ext cx="2520273"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Measure</a:t>
            </a:r>
            <a:endParaRPr sz="2200">
              <a:solidFill>
                <a:schemeClr val="dk1"/>
              </a:solidFill>
              <a:latin typeface="DM Sans"/>
              <a:ea typeface="DM Sans"/>
              <a:cs typeface="DM Sans"/>
              <a:sym typeface="DM Sans"/>
            </a:endParaRPr>
          </a:p>
        </p:txBody>
      </p:sp>
      <p:sp>
        <p:nvSpPr>
          <p:cNvPr id="30" name="Google Shape;30;p5"/>
          <p:cNvSpPr/>
          <p:nvPr/>
        </p:nvSpPr>
        <p:spPr>
          <a:xfrm>
            <a:off x="1079500" y="3431448"/>
            <a:ext cx="2520273" cy="57401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Electrodes record each player’s brain activity</a:t>
            </a:r>
            <a:endParaRPr sz="1600">
              <a:solidFill>
                <a:schemeClr val="dk1"/>
              </a:solidFill>
              <a:latin typeface="DM Sans"/>
              <a:ea typeface="DM Sans"/>
              <a:cs typeface="DM Sans"/>
              <a:sym typeface="DM Sans"/>
            </a:endParaRPr>
          </a:p>
        </p:txBody>
      </p:sp>
      <p:pic>
        <p:nvPicPr>
          <p:cNvPr descr="arrow-right" id="31" name="Google Shape;31;p5"/>
          <p:cNvPicPr preferRelativeResize="0"/>
          <p:nvPr/>
        </p:nvPicPr>
        <p:blipFill rotWithShape="1">
          <a:blip r:embed="rId3">
            <a:alphaModFix/>
          </a:blip>
          <a:srcRect b="0" l="0" r="0" t="0"/>
          <a:stretch/>
        </p:blipFill>
        <p:spPr>
          <a:xfrm>
            <a:off x="3996267" y="3398441"/>
            <a:ext cx="406400" cy="203200"/>
          </a:xfrm>
          <a:prstGeom prst="rect">
            <a:avLst/>
          </a:prstGeom>
          <a:noFill/>
          <a:ln>
            <a:noFill/>
          </a:ln>
        </p:spPr>
      </p:pic>
      <p:sp>
        <p:nvSpPr>
          <p:cNvPr id="32" name="Google Shape;32;p5"/>
          <p:cNvSpPr/>
          <p:nvPr/>
        </p:nvSpPr>
        <p:spPr>
          <a:xfrm>
            <a:off x="4612217" y="2759670"/>
            <a:ext cx="2967567" cy="1480741"/>
          </a:xfrm>
          <a:prstGeom prst="roundRect">
            <a:avLst>
              <a:gd fmla="val 6433"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3" name="Google Shape;33;p5"/>
          <p:cNvSpPr/>
          <p:nvPr/>
        </p:nvSpPr>
        <p:spPr>
          <a:xfrm>
            <a:off x="4872567" y="3020020"/>
            <a:ext cx="2520273"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Score</a:t>
            </a:r>
            <a:endParaRPr sz="2200">
              <a:solidFill>
                <a:schemeClr val="dk1"/>
              </a:solidFill>
              <a:latin typeface="DM Sans"/>
              <a:ea typeface="DM Sans"/>
              <a:cs typeface="DM Sans"/>
              <a:sym typeface="DM Sans"/>
            </a:endParaRPr>
          </a:p>
        </p:txBody>
      </p:sp>
      <p:sp>
        <p:nvSpPr>
          <p:cNvPr id="34" name="Google Shape;34;p5"/>
          <p:cNvSpPr/>
          <p:nvPr/>
        </p:nvSpPr>
        <p:spPr>
          <a:xfrm>
            <a:off x="4872567" y="3431448"/>
            <a:ext cx="2520273" cy="57401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Brain rhythms become a relaxation score</a:t>
            </a:r>
            <a:endParaRPr sz="1600">
              <a:solidFill>
                <a:schemeClr val="dk1"/>
              </a:solidFill>
              <a:latin typeface="DM Sans"/>
              <a:ea typeface="DM Sans"/>
              <a:cs typeface="DM Sans"/>
              <a:sym typeface="DM Sans"/>
            </a:endParaRPr>
          </a:p>
        </p:txBody>
      </p:sp>
      <p:pic>
        <p:nvPicPr>
          <p:cNvPr descr="arrow-right" id="35" name="Google Shape;35;p5"/>
          <p:cNvPicPr preferRelativeResize="0"/>
          <p:nvPr/>
        </p:nvPicPr>
        <p:blipFill rotWithShape="1">
          <a:blip r:embed="rId3">
            <a:alphaModFix/>
          </a:blip>
          <a:srcRect b="0" l="0" r="0" t="0"/>
          <a:stretch/>
        </p:blipFill>
        <p:spPr>
          <a:xfrm>
            <a:off x="7789334" y="3398441"/>
            <a:ext cx="406400" cy="203200"/>
          </a:xfrm>
          <a:prstGeom prst="rect">
            <a:avLst/>
          </a:prstGeom>
          <a:noFill/>
          <a:ln>
            <a:noFill/>
          </a:ln>
        </p:spPr>
      </p:pic>
      <p:sp>
        <p:nvSpPr>
          <p:cNvPr id="36" name="Google Shape;36;p5"/>
          <p:cNvSpPr/>
          <p:nvPr/>
        </p:nvSpPr>
        <p:spPr>
          <a:xfrm>
            <a:off x="8405284" y="2759670"/>
            <a:ext cx="2967567" cy="1480741"/>
          </a:xfrm>
          <a:prstGeom prst="roundRect">
            <a:avLst>
              <a:gd fmla="val 6433"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7" name="Google Shape;37;p5"/>
          <p:cNvSpPr/>
          <p:nvPr/>
        </p:nvSpPr>
        <p:spPr>
          <a:xfrm>
            <a:off x="8665634" y="3020020"/>
            <a:ext cx="2520273"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Move</a:t>
            </a:r>
            <a:endParaRPr sz="2200">
              <a:solidFill>
                <a:schemeClr val="dk1"/>
              </a:solidFill>
              <a:latin typeface="DM Sans"/>
              <a:ea typeface="DM Sans"/>
              <a:cs typeface="DM Sans"/>
              <a:sym typeface="DM Sans"/>
            </a:endParaRPr>
          </a:p>
        </p:txBody>
      </p:sp>
      <p:sp>
        <p:nvSpPr>
          <p:cNvPr id="38" name="Google Shape;38;p5"/>
          <p:cNvSpPr/>
          <p:nvPr/>
        </p:nvSpPr>
        <p:spPr>
          <a:xfrm>
            <a:off x="8665634" y="3431448"/>
            <a:ext cx="2520273" cy="57401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The ball rolls toward the less relaxed player</a:t>
            </a:r>
            <a:endParaRPr sz="16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C4B6"/>
        </a:solidFill>
      </p:bgPr>
    </p:bg>
    <p:spTree>
      <p:nvGrpSpPr>
        <p:cNvPr id="43" name="Shape 43"/>
        <p:cNvGrpSpPr/>
        <p:nvPr/>
      </p:nvGrpSpPr>
      <p:grpSpPr>
        <a:xfrm>
          <a:off x="0" y="0"/>
          <a:ext cx="0" cy="0"/>
          <a:chOff x="0" y="0"/>
          <a:chExt cx="0" cy="0"/>
        </a:xfrm>
      </p:grpSpPr>
      <p:sp>
        <p:nvSpPr>
          <p:cNvPr id="44" name="Google Shape;44;p6"/>
          <p:cNvSpPr/>
          <p:nvPr/>
        </p:nvSpPr>
        <p:spPr>
          <a:xfrm>
            <a:off x="332250" y="135742"/>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200"/>
              <a:buFont typeface="DM Sans"/>
              <a:buNone/>
            </a:pPr>
            <a:r>
              <a:rPr b="1" lang="en-US" sz="1200">
                <a:solidFill>
                  <a:srgbClr val="14213D"/>
                </a:solidFill>
                <a:latin typeface="DM Sans"/>
                <a:ea typeface="DM Sans"/>
                <a:cs typeface="DM Sans"/>
                <a:sym typeface="DM Sans"/>
              </a:rPr>
              <a:t>OUR GOAL</a:t>
            </a:r>
            <a:endParaRPr sz="1200">
              <a:solidFill>
                <a:schemeClr val="dk1"/>
              </a:solidFill>
              <a:latin typeface="DM Sans"/>
              <a:ea typeface="DM Sans"/>
              <a:cs typeface="DM Sans"/>
              <a:sym typeface="DM Sans"/>
            </a:endParaRPr>
          </a:p>
        </p:txBody>
      </p:sp>
      <p:sp>
        <p:nvSpPr>
          <p:cNvPr id="45" name="Google Shape;45;p6"/>
          <p:cNvSpPr txBox="1"/>
          <p:nvPr>
            <p:ph type="title"/>
          </p:nvPr>
        </p:nvSpPr>
        <p:spPr>
          <a:xfrm>
            <a:off x="332250" y="603062"/>
            <a:ext cx="9810900" cy="1602600"/>
          </a:xfrm>
          <a:prstGeom prst="rect">
            <a:avLst/>
          </a:prstGeom>
          <a:noFill/>
          <a:ln>
            <a:noFill/>
          </a:ln>
        </p:spPr>
        <p:txBody>
          <a:bodyPr anchorCtr="0" anchor="t" bIns="0" lIns="0" spcFirstLastPara="1" rIns="0" wrap="square" tIns="0">
            <a:normAutofit fontScale="90000"/>
          </a:bodyPr>
          <a:lstStyle/>
          <a:p>
            <a:pPr indent="0" lvl="0" marL="0" rtl="0" algn="l">
              <a:lnSpc>
                <a:spcPct val="115000"/>
              </a:lnSpc>
              <a:spcBef>
                <a:spcPts val="0"/>
              </a:spcBef>
              <a:spcAft>
                <a:spcPts val="0"/>
              </a:spcAft>
              <a:buClr>
                <a:srgbClr val="14213D"/>
              </a:buClr>
              <a:buSzPct val="100000"/>
              <a:buFont typeface="Space Grotesk"/>
              <a:buNone/>
            </a:pPr>
            <a:r>
              <a:rPr b="1" i="0" lang="en-US" sz="3600">
                <a:solidFill>
                  <a:srgbClr val="14213D"/>
                </a:solidFill>
                <a:latin typeface="Space Grotesk"/>
                <a:ea typeface="Space Grotesk"/>
                <a:cs typeface="Space Grotesk"/>
                <a:sym typeface="Space Grotesk"/>
              </a:rPr>
              <a:t>Recreate Mindball, understand how it works, then build our own brain-controlled games.</a:t>
            </a:r>
            <a:endParaRPr sz="3600"/>
          </a:p>
        </p:txBody>
      </p:sp>
      <p:pic>
        <p:nvPicPr>
          <p:cNvPr descr="Some people wondered what Mindball was all about. Here's a video from when I played against my dad." id="46" name="Google Shape;46;p6" title="Mindball">
            <a:hlinkClick r:id="rId3"/>
          </p:cNvPr>
          <p:cNvPicPr preferRelativeResize="0"/>
          <p:nvPr/>
        </p:nvPicPr>
        <p:blipFill>
          <a:blip r:embed="rId4">
            <a:alphaModFix/>
          </a:blip>
          <a:stretch>
            <a:fillRect/>
          </a:stretch>
        </p:blipFill>
        <p:spPr>
          <a:xfrm>
            <a:off x="2007225" y="2013257"/>
            <a:ext cx="7533450" cy="423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
                                        </p:tgtEl>
                                        <p:attrNameLst>
                                          <p:attrName>style.visibility</p:attrName>
                                        </p:attrNameLst>
                                      </p:cBhvr>
                                      <p:to>
                                        <p:strVal val="visible"/>
                                      </p:to>
                                    </p:set>
                                    <p:animEffect filter="fade" transition="in">
                                      <p:cBhvr>
                                        <p:cTn dur="1000"/>
                                        <p:tgtEl>
                                          <p:spTgt spid="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7"/>
          <p:cNvSpPr txBox="1"/>
          <p:nvPr>
            <p:ph type="title"/>
          </p:nvPr>
        </p:nvSpPr>
        <p:spPr>
          <a:xfrm>
            <a:off x="812800" y="812800"/>
            <a:ext cx="10566300" cy="50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Team Structure</a:t>
            </a:r>
            <a:endParaRPr/>
          </a:p>
        </p:txBody>
      </p:sp>
      <p:sp>
        <p:nvSpPr>
          <p:cNvPr id="52" name="Google Shape;52;p7"/>
          <p:cNvSpPr txBox="1"/>
          <p:nvPr>
            <p:ph idx="1" type="body"/>
          </p:nvPr>
        </p:nvSpPr>
        <p:spPr>
          <a:xfrm>
            <a:off x="812800" y="1620507"/>
            <a:ext cx="10566300" cy="4424700"/>
          </a:xfrm>
          <a:prstGeom prst="rect">
            <a:avLst/>
          </a:prstGeom>
        </p:spPr>
        <p:txBody>
          <a:bodyPr anchorCtr="0" anchor="t" bIns="0" lIns="0" spcFirstLastPara="1" rIns="0" wrap="square" tIns="0">
            <a:noAutofit/>
          </a:bodyPr>
          <a:lstStyle/>
          <a:p>
            <a:pPr indent="-444500" lvl="0" marL="457200" rtl="0" algn="l">
              <a:spcBef>
                <a:spcPts val="320"/>
              </a:spcBef>
              <a:spcAft>
                <a:spcPts val="0"/>
              </a:spcAft>
              <a:buSzPts val="3400"/>
              <a:buChar char="●"/>
            </a:pPr>
            <a:r>
              <a:rPr lang="en-US" sz="3400"/>
              <a:t>Split into subgroups focused on specific tasks (</a:t>
            </a:r>
            <a:r>
              <a:rPr lang="en-US" sz="3400"/>
              <a:t>details</a:t>
            </a:r>
            <a:r>
              <a:rPr lang="en-US" sz="3400"/>
              <a:t> later in presentation)</a:t>
            </a:r>
            <a:endParaRPr sz="3400"/>
          </a:p>
          <a:p>
            <a:pPr indent="-444500" lvl="0" marL="457200" rtl="0" algn="l">
              <a:spcBef>
                <a:spcPts val="0"/>
              </a:spcBef>
              <a:spcAft>
                <a:spcPts val="0"/>
              </a:spcAft>
              <a:buSzPts val="3400"/>
              <a:buChar char="●"/>
            </a:pPr>
            <a:r>
              <a:rPr lang="en-US" sz="3400"/>
              <a:t>Meetings roughly every week to go over progress, assign tasks, etc.</a:t>
            </a:r>
            <a:endParaRPr sz="3400"/>
          </a:p>
          <a:p>
            <a:pPr indent="-444500" lvl="0" marL="457200" rtl="0" algn="l">
              <a:spcBef>
                <a:spcPts val="0"/>
              </a:spcBef>
              <a:spcAft>
                <a:spcPts val="0"/>
              </a:spcAft>
              <a:buSzPts val="3400"/>
              <a:buChar char="●"/>
            </a:pPr>
            <a:r>
              <a:rPr lang="en-US" sz="3400"/>
              <a:t>Reach out if you run into bugs </a:t>
            </a:r>
            <a:endParaRPr sz="3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57" name="Shape 57"/>
        <p:cNvGrpSpPr/>
        <p:nvPr/>
      </p:nvGrpSpPr>
      <p:grpSpPr>
        <a:xfrm>
          <a:off x="0" y="0"/>
          <a:ext cx="0" cy="0"/>
          <a:chOff x="0" y="0"/>
          <a:chExt cx="0" cy="0"/>
        </a:xfrm>
      </p:grpSpPr>
      <p:sp>
        <p:nvSpPr>
          <p:cNvPr id="58" name="Google Shape;58;p8"/>
          <p:cNvSpPr txBox="1"/>
          <p:nvPr>
            <p:ph type="title"/>
          </p:nvPr>
        </p:nvSpPr>
        <p:spPr>
          <a:xfrm>
            <a:off x="812800" y="812800"/>
            <a:ext cx="10883400" cy="528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i="0" lang="en-US" sz="3600">
                <a:solidFill>
                  <a:srgbClr val="14213D"/>
                </a:solidFill>
                <a:latin typeface="Space Grotesk"/>
                <a:ea typeface="Space Grotesk"/>
                <a:cs typeface="Space Grotesk"/>
                <a:sym typeface="Space Grotesk"/>
              </a:rPr>
              <a:t>How we work: Phase 1</a:t>
            </a:r>
            <a:endParaRPr sz="3600"/>
          </a:p>
        </p:txBody>
      </p:sp>
      <p:sp>
        <p:nvSpPr>
          <p:cNvPr id="59" name="Google Shape;59;p8"/>
          <p:cNvSpPr/>
          <p:nvPr/>
        </p:nvSpPr>
        <p:spPr>
          <a:xfrm>
            <a:off x="812800" y="1341092"/>
            <a:ext cx="10883400" cy="5312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4213D"/>
              </a:buClr>
              <a:buSzPts val="2200"/>
              <a:buFont typeface="DM Sans"/>
              <a:buNone/>
            </a:pPr>
            <a:r>
              <a:rPr lang="en-US" sz="1900">
                <a:solidFill>
                  <a:srgbClr val="14213D"/>
                </a:solidFill>
                <a:latin typeface="DM Sans"/>
                <a:ea typeface="DM Sans"/>
                <a:cs typeface="DM Sans"/>
                <a:sym typeface="DM Sans"/>
              </a:rPr>
              <a:t>Split into sub-groups focused on short term tasks, and finish the core Mind Game.</a:t>
            </a:r>
            <a:endParaRPr sz="1900">
              <a:solidFill>
                <a:srgbClr val="14213D"/>
              </a:solidFill>
              <a:latin typeface="DM Sans"/>
              <a:ea typeface="DM Sans"/>
              <a:cs typeface="DM Sans"/>
              <a:sym typeface="DM Sans"/>
            </a:endParaRPr>
          </a:p>
          <a:p>
            <a:pPr indent="0" lvl="0" marL="0" marR="0" rtl="0" algn="l">
              <a:lnSpc>
                <a:spcPct val="130000"/>
              </a:lnSpc>
              <a:spcBef>
                <a:spcPts val="0"/>
              </a:spcBef>
              <a:spcAft>
                <a:spcPts val="0"/>
              </a:spcAft>
              <a:buClr>
                <a:srgbClr val="14213D"/>
              </a:buClr>
              <a:buSzPts val="2200"/>
              <a:buFont typeface="DM Sans"/>
              <a:buNone/>
            </a:pPr>
            <a:r>
              <a:t/>
            </a:r>
            <a:endParaRPr sz="1900">
              <a:solidFill>
                <a:srgbClr val="14213D"/>
              </a:solidFill>
              <a:latin typeface="DM Sans"/>
              <a:ea typeface="DM Sans"/>
              <a:cs typeface="DM Sans"/>
              <a:sym typeface="DM Sans"/>
            </a:endParaRPr>
          </a:p>
          <a:p>
            <a:pPr indent="-349250" lvl="0" marL="457200" rtl="0" algn="l">
              <a:lnSpc>
                <a:spcPct val="130000"/>
              </a:lnSpc>
              <a:spcBef>
                <a:spcPts val="0"/>
              </a:spcBef>
              <a:spcAft>
                <a:spcPts val="0"/>
              </a:spcAft>
              <a:buClr>
                <a:srgbClr val="14213D"/>
              </a:buClr>
              <a:buSzPts val="1900"/>
              <a:buFont typeface="DM Sans"/>
              <a:buChar char="●"/>
            </a:pPr>
            <a:r>
              <a:rPr b="1" lang="en-US" sz="1900">
                <a:solidFill>
                  <a:srgbClr val="14213D"/>
                </a:solidFill>
                <a:latin typeface="DM Sans"/>
                <a:ea typeface="DM Sans"/>
                <a:cs typeface="DM Sans"/>
                <a:sym typeface="DM Sans"/>
              </a:rPr>
              <a:t>EEG Data Acquisition &amp; Hardware Integration</a:t>
            </a:r>
            <a:r>
              <a:rPr lang="en-US" sz="1900">
                <a:solidFill>
                  <a:srgbClr val="14213D"/>
                </a:solidFill>
                <a:latin typeface="DM Sans"/>
                <a:ea typeface="DM Sans"/>
                <a:cs typeface="DM Sans"/>
                <a:sym typeface="DM Sans"/>
              </a:rPr>
              <a:t>: Reading EEG data from OpenBCI headsets, streaming it into Python, and managing recordings.</a:t>
            </a:r>
            <a:endParaRPr sz="1900">
              <a:solidFill>
                <a:srgbClr val="14213D"/>
              </a:solidFill>
              <a:latin typeface="DM Sans"/>
              <a:ea typeface="DM Sans"/>
              <a:cs typeface="DM Sans"/>
              <a:sym typeface="DM Sans"/>
            </a:endParaRPr>
          </a:p>
          <a:p>
            <a:pPr indent="-349250" lvl="0" marL="457200" rtl="0" algn="l">
              <a:lnSpc>
                <a:spcPct val="130000"/>
              </a:lnSpc>
              <a:spcBef>
                <a:spcPts val="0"/>
              </a:spcBef>
              <a:spcAft>
                <a:spcPts val="0"/>
              </a:spcAft>
              <a:buClr>
                <a:srgbClr val="14213D"/>
              </a:buClr>
              <a:buSzPts val="1900"/>
              <a:buFont typeface="DM Sans"/>
              <a:buChar char="●"/>
            </a:pPr>
            <a:r>
              <a:rPr b="1" lang="en-US" sz="1900">
                <a:solidFill>
                  <a:srgbClr val="14213D"/>
                </a:solidFill>
                <a:latin typeface="DM Sans"/>
                <a:ea typeface="DM Sans"/>
                <a:cs typeface="DM Sans"/>
                <a:sym typeface="DM Sans"/>
              </a:rPr>
              <a:t>Signal Processing &amp; Focus Index</a:t>
            </a:r>
            <a:r>
              <a:rPr lang="en-US" sz="1900">
                <a:solidFill>
                  <a:srgbClr val="14213D"/>
                </a:solidFill>
                <a:latin typeface="DM Sans"/>
                <a:ea typeface="DM Sans"/>
                <a:cs typeface="DM Sans"/>
                <a:sym typeface="DM Sans"/>
              </a:rPr>
              <a:t>: Analyzing brainwave frequencies and developing a method to estimate player focus.</a:t>
            </a:r>
            <a:endParaRPr sz="1900">
              <a:solidFill>
                <a:srgbClr val="14213D"/>
              </a:solidFill>
              <a:latin typeface="DM Sans"/>
              <a:ea typeface="DM Sans"/>
              <a:cs typeface="DM Sans"/>
              <a:sym typeface="DM Sans"/>
            </a:endParaRPr>
          </a:p>
          <a:p>
            <a:pPr indent="-349250" lvl="0" marL="457200" rtl="0" algn="l">
              <a:lnSpc>
                <a:spcPct val="130000"/>
              </a:lnSpc>
              <a:spcBef>
                <a:spcPts val="0"/>
              </a:spcBef>
              <a:spcAft>
                <a:spcPts val="0"/>
              </a:spcAft>
              <a:buClr>
                <a:srgbClr val="14213D"/>
              </a:buClr>
              <a:buSzPts val="1900"/>
              <a:buFont typeface="DM Sans"/>
              <a:buChar char="●"/>
            </a:pPr>
            <a:r>
              <a:rPr b="1" lang="en-US" sz="1900">
                <a:solidFill>
                  <a:srgbClr val="14213D"/>
                </a:solidFill>
                <a:latin typeface="DM Sans"/>
                <a:ea typeface="DM Sans"/>
                <a:cs typeface="DM Sans"/>
                <a:sym typeface="DM Sans"/>
              </a:rPr>
              <a:t>Artifact Detection &amp; EEG Cleaning</a:t>
            </a:r>
            <a:r>
              <a:rPr lang="en-US" sz="1900">
                <a:solidFill>
                  <a:srgbClr val="14213D"/>
                </a:solidFill>
                <a:latin typeface="DM Sans"/>
                <a:ea typeface="DM Sans"/>
                <a:cs typeface="DM Sans"/>
                <a:sym typeface="DM Sans"/>
              </a:rPr>
              <a:t>: Identifying and filtering noise from eye blinks, muscle movements, and other sources.</a:t>
            </a:r>
            <a:endParaRPr sz="1900">
              <a:solidFill>
                <a:srgbClr val="14213D"/>
              </a:solidFill>
              <a:latin typeface="DM Sans"/>
              <a:ea typeface="DM Sans"/>
              <a:cs typeface="DM Sans"/>
              <a:sym typeface="DM Sans"/>
            </a:endParaRPr>
          </a:p>
          <a:p>
            <a:pPr indent="-349250" lvl="0" marL="457200" rtl="0" algn="l">
              <a:lnSpc>
                <a:spcPct val="130000"/>
              </a:lnSpc>
              <a:spcBef>
                <a:spcPts val="0"/>
              </a:spcBef>
              <a:spcAft>
                <a:spcPts val="0"/>
              </a:spcAft>
              <a:buClr>
                <a:srgbClr val="14213D"/>
              </a:buClr>
              <a:buSzPts val="1900"/>
              <a:buFont typeface="DM Sans"/>
              <a:buChar char="●"/>
            </a:pPr>
            <a:r>
              <a:rPr b="1" lang="en-US" sz="1900">
                <a:solidFill>
                  <a:srgbClr val="14213D"/>
                </a:solidFill>
                <a:latin typeface="DM Sans"/>
                <a:ea typeface="DM Sans"/>
                <a:cs typeface="DM Sans"/>
                <a:sym typeface="DM Sans"/>
              </a:rPr>
              <a:t>Game Logic &amp; Scoring</a:t>
            </a:r>
            <a:r>
              <a:rPr lang="en-US" sz="1900">
                <a:solidFill>
                  <a:srgbClr val="14213D"/>
                </a:solidFill>
                <a:latin typeface="DM Sans"/>
                <a:ea typeface="DM Sans"/>
                <a:cs typeface="DM Sans"/>
                <a:sym typeface="DM Sans"/>
              </a:rPr>
              <a:t>: Designing scoring algorithms, win conditions, and the core game engine.</a:t>
            </a:r>
            <a:endParaRPr sz="1900">
              <a:solidFill>
                <a:srgbClr val="14213D"/>
              </a:solidFill>
              <a:latin typeface="DM Sans"/>
              <a:ea typeface="DM Sans"/>
              <a:cs typeface="DM Sans"/>
              <a:sym typeface="DM Sans"/>
            </a:endParaRPr>
          </a:p>
          <a:p>
            <a:pPr indent="-349250" lvl="0" marL="457200" rtl="0" algn="l">
              <a:lnSpc>
                <a:spcPct val="130000"/>
              </a:lnSpc>
              <a:spcBef>
                <a:spcPts val="0"/>
              </a:spcBef>
              <a:spcAft>
                <a:spcPts val="0"/>
              </a:spcAft>
              <a:buClr>
                <a:srgbClr val="14213D"/>
              </a:buClr>
              <a:buSzPts val="1900"/>
              <a:buFont typeface="DM Sans"/>
              <a:buChar char="●"/>
            </a:pPr>
            <a:r>
              <a:rPr b="1" lang="en-US" sz="1900">
                <a:solidFill>
                  <a:srgbClr val="14213D"/>
                </a:solidFill>
                <a:latin typeface="DM Sans"/>
                <a:ea typeface="DM Sans"/>
                <a:cs typeface="DM Sans"/>
                <a:sym typeface="DM Sans"/>
              </a:rPr>
              <a:t>Arduino Communication &amp; LED Display:</a:t>
            </a:r>
            <a:r>
              <a:rPr lang="en-US" sz="1900">
                <a:solidFill>
                  <a:srgbClr val="14213D"/>
                </a:solidFill>
                <a:latin typeface="DM Sans"/>
                <a:ea typeface="DM Sans"/>
                <a:cs typeface="DM Sans"/>
                <a:sym typeface="DM Sans"/>
              </a:rPr>
              <a:t> Connecting Python to Arduino and developing the LED-based game display.</a:t>
            </a:r>
            <a:endParaRPr sz="1900">
              <a:solidFill>
                <a:srgbClr val="14213D"/>
              </a:solidFill>
              <a:latin typeface="DM Sans"/>
              <a:ea typeface="DM Sans"/>
              <a:cs typeface="DM Sans"/>
              <a:sym typeface="DM Sans"/>
            </a:endParaRPr>
          </a:p>
          <a:p>
            <a:pPr indent="-349250" lvl="0" marL="457200" rtl="0" algn="l">
              <a:lnSpc>
                <a:spcPct val="130000"/>
              </a:lnSpc>
              <a:spcBef>
                <a:spcPts val="0"/>
              </a:spcBef>
              <a:spcAft>
                <a:spcPts val="0"/>
              </a:spcAft>
              <a:buClr>
                <a:srgbClr val="14213D"/>
              </a:buClr>
              <a:buSzPts val="1900"/>
              <a:buFont typeface="DM Sans"/>
              <a:buChar char="●"/>
            </a:pPr>
            <a:r>
              <a:rPr b="1" lang="en-US" sz="1900">
                <a:solidFill>
                  <a:srgbClr val="14213D"/>
                </a:solidFill>
                <a:latin typeface="DM Sans"/>
                <a:ea typeface="DM Sans"/>
                <a:cs typeface="DM Sans"/>
                <a:sym typeface="DM Sans"/>
              </a:rPr>
              <a:t>Pretrained EEG Models &amp; ML Research: </a:t>
            </a:r>
            <a:r>
              <a:rPr lang="en-US" sz="1900">
                <a:solidFill>
                  <a:srgbClr val="14213D"/>
                </a:solidFill>
                <a:latin typeface="DM Sans"/>
                <a:ea typeface="DM Sans"/>
                <a:cs typeface="DM Sans"/>
                <a:sym typeface="DM Sans"/>
              </a:rPr>
              <a:t>Exploring pretrained models such as REVE and CBraMod for focus prediction and future minigames.</a:t>
            </a:r>
            <a:endParaRPr sz="1900">
              <a:solidFill>
                <a:srgbClr val="14213D"/>
              </a:solidFill>
              <a:latin typeface="DM Sans"/>
              <a:ea typeface="DM Sans"/>
              <a:cs typeface="DM Sans"/>
              <a:sym typeface="DM Sans"/>
            </a:endParaRPr>
          </a:p>
          <a:p>
            <a:pPr indent="0" lvl="0" marL="0" marR="0" rtl="0" algn="l">
              <a:lnSpc>
                <a:spcPct val="130000"/>
              </a:lnSpc>
              <a:spcBef>
                <a:spcPts val="0"/>
              </a:spcBef>
              <a:spcAft>
                <a:spcPts val="0"/>
              </a:spcAft>
              <a:buClr>
                <a:srgbClr val="14213D"/>
              </a:buClr>
              <a:buSzPts val="2200"/>
              <a:buFont typeface="DM Sans"/>
              <a:buNone/>
            </a:pPr>
            <a:r>
              <a:t/>
            </a:r>
            <a:endParaRPr sz="1900">
              <a:solidFill>
                <a:srgbClr val="14213D"/>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64" name="Shape 64"/>
        <p:cNvGrpSpPr/>
        <p:nvPr/>
      </p:nvGrpSpPr>
      <p:grpSpPr>
        <a:xfrm>
          <a:off x="0" y="0"/>
          <a:ext cx="0" cy="0"/>
          <a:chOff x="0" y="0"/>
          <a:chExt cx="0" cy="0"/>
        </a:xfrm>
      </p:grpSpPr>
      <p:sp>
        <p:nvSpPr>
          <p:cNvPr id="65" name="Google Shape;65;p9"/>
          <p:cNvSpPr txBox="1"/>
          <p:nvPr>
            <p:ph type="title"/>
          </p:nvPr>
        </p:nvSpPr>
        <p:spPr>
          <a:xfrm>
            <a:off x="588025" y="169475"/>
            <a:ext cx="10883400" cy="528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4213D"/>
              </a:buClr>
              <a:buSzPct val="100000"/>
              <a:buFont typeface="Space Grotesk"/>
              <a:buNone/>
            </a:pPr>
            <a:r>
              <a:rPr b="1" lang="en-US"/>
              <a:t>Long term plans: Phase 2</a:t>
            </a:r>
            <a:endParaRPr sz="3600"/>
          </a:p>
        </p:txBody>
      </p:sp>
      <p:sp>
        <p:nvSpPr>
          <p:cNvPr id="66" name="Google Shape;66;p9"/>
          <p:cNvSpPr/>
          <p:nvPr/>
        </p:nvSpPr>
        <p:spPr>
          <a:xfrm>
            <a:off x="588025" y="1027923"/>
            <a:ext cx="10883400" cy="721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4213D"/>
              </a:buClr>
              <a:buSzPts val="2200"/>
              <a:buFont typeface="DM Sans"/>
              <a:buNone/>
            </a:pPr>
            <a:r>
              <a:rPr lang="en-US" sz="2200">
                <a:solidFill>
                  <a:srgbClr val="14213D"/>
                </a:solidFill>
                <a:latin typeface="DM Sans"/>
                <a:ea typeface="DM Sans"/>
                <a:cs typeface="DM Sans"/>
                <a:sym typeface="DM Sans"/>
              </a:rPr>
              <a:t>Everyone makes/executes minigame ideas in small groups. Some  potential ideas are:</a:t>
            </a:r>
            <a:endParaRPr sz="2200">
              <a:solidFill>
                <a:srgbClr val="14213D"/>
              </a:solidFill>
              <a:latin typeface="DM Sans"/>
              <a:ea typeface="DM Sans"/>
              <a:cs typeface="DM Sans"/>
              <a:sym typeface="DM Sans"/>
            </a:endParaRPr>
          </a:p>
          <a:p>
            <a:pPr indent="0" lvl="0" marL="0" marR="0" rtl="0" algn="l">
              <a:lnSpc>
                <a:spcPct val="130000"/>
              </a:lnSpc>
              <a:spcBef>
                <a:spcPts val="0"/>
              </a:spcBef>
              <a:spcAft>
                <a:spcPts val="0"/>
              </a:spcAft>
              <a:buClr>
                <a:srgbClr val="14213D"/>
              </a:buClr>
              <a:buSzPts val="2200"/>
              <a:buFont typeface="DM Sans"/>
              <a:buNone/>
            </a:pPr>
            <a:r>
              <a:t/>
            </a:r>
            <a:endParaRPr sz="2200">
              <a:solidFill>
                <a:srgbClr val="14213D"/>
              </a:solidFill>
              <a:latin typeface="DM Sans"/>
              <a:ea typeface="DM Sans"/>
              <a:cs typeface="DM Sans"/>
              <a:sym typeface="DM Sans"/>
            </a:endParaRPr>
          </a:p>
        </p:txBody>
      </p:sp>
      <p:sp>
        <p:nvSpPr>
          <p:cNvPr id="67" name="Google Shape;67;p9"/>
          <p:cNvSpPr/>
          <p:nvPr/>
        </p:nvSpPr>
        <p:spPr>
          <a:xfrm>
            <a:off x="82738" y="2079265"/>
            <a:ext cx="3374100" cy="2237700"/>
          </a:xfrm>
          <a:prstGeom prst="roundRect">
            <a:avLst>
              <a:gd fmla="val 4257"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pic>
        <p:nvPicPr>
          <p:cNvPr descr="Users" id="68" name="Google Shape;68;p9"/>
          <p:cNvPicPr preferRelativeResize="0"/>
          <p:nvPr/>
        </p:nvPicPr>
        <p:blipFill rotWithShape="1">
          <a:blip r:embed="rId3">
            <a:alphaModFix/>
          </a:blip>
          <a:srcRect b="0" l="0" r="0" t="0"/>
          <a:stretch/>
        </p:blipFill>
        <p:spPr>
          <a:xfrm>
            <a:off x="343088" y="2339615"/>
            <a:ext cx="355600" cy="355600"/>
          </a:xfrm>
          <a:prstGeom prst="rect">
            <a:avLst/>
          </a:prstGeom>
          <a:noFill/>
          <a:ln>
            <a:noFill/>
          </a:ln>
        </p:spPr>
      </p:pic>
      <p:sp>
        <p:nvSpPr>
          <p:cNvPr id="69" name="Google Shape;69;p9"/>
          <p:cNvSpPr/>
          <p:nvPr/>
        </p:nvSpPr>
        <p:spPr>
          <a:xfrm>
            <a:off x="343088" y="2796815"/>
            <a:ext cx="2938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Tug of war</a:t>
            </a:r>
            <a:endParaRPr sz="2200">
              <a:solidFill>
                <a:schemeClr val="dk1"/>
              </a:solidFill>
              <a:latin typeface="DM Sans"/>
              <a:ea typeface="DM Sans"/>
              <a:cs typeface="DM Sans"/>
              <a:sym typeface="DM Sans"/>
            </a:endParaRPr>
          </a:p>
        </p:txBody>
      </p:sp>
      <p:sp>
        <p:nvSpPr>
          <p:cNvPr id="70" name="Google Shape;70;p9"/>
          <p:cNvSpPr/>
          <p:nvPr/>
        </p:nvSpPr>
        <p:spPr>
          <a:xfrm>
            <a:off x="343088" y="3233641"/>
            <a:ext cx="2938800" cy="848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Tug of war between two players</a:t>
            </a:r>
            <a:endParaRPr sz="1600">
              <a:solidFill>
                <a:schemeClr val="dk1"/>
              </a:solidFill>
              <a:latin typeface="DM Sans"/>
              <a:ea typeface="DM Sans"/>
              <a:cs typeface="DM Sans"/>
              <a:sym typeface="DM Sans"/>
            </a:endParaRPr>
          </a:p>
        </p:txBody>
      </p:sp>
      <p:sp>
        <p:nvSpPr>
          <p:cNvPr id="71" name="Google Shape;71;p9"/>
          <p:cNvSpPr/>
          <p:nvPr/>
        </p:nvSpPr>
        <p:spPr>
          <a:xfrm>
            <a:off x="3672605" y="2079265"/>
            <a:ext cx="3374100" cy="2237700"/>
          </a:xfrm>
          <a:prstGeom prst="roundRect">
            <a:avLst>
              <a:gd fmla="val 4257"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pic>
        <p:nvPicPr>
          <p:cNvPr descr="Code" id="72" name="Google Shape;72;p9"/>
          <p:cNvPicPr preferRelativeResize="0"/>
          <p:nvPr/>
        </p:nvPicPr>
        <p:blipFill rotWithShape="1">
          <a:blip r:embed="rId4">
            <a:alphaModFix/>
          </a:blip>
          <a:srcRect b="0" l="0" r="0" t="0"/>
          <a:stretch/>
        </p:blipFill>
        <p:spPr>
          <a:xfrm>
            <a:off x="3932955" y="2339615"/>
            <a:ext cx="355600" cy="355600"/>
          </a:xfrm>
          <a:prstGeom prst="rect">
            <a:avLst/>
          </a:prstGeom>
          <a:noFill/>
          <a:ln>
            <a:noFill/>
          </a:ln>
        </p:spPr>
      </p:pic>
      <p:sp>
        <p:nvSpPr>
          <p:cNvPr id="73" name="Google Shape;73;p9"/>
          <p:cNvSpPr/>
          <p:nvPr/>
        </p:nvSpPr>
        <p:spPr>
          <a:xfrm>
            <a:off x="3932955" y="2796815"/>
            <a:ext cx="2938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Red Light Green Light</a:t>
            </a:r>
            <a:endParaRPr sz="2200">
              <a:solidFill>
                <a:schemeClr val="dk1"/>
              </a:solidFill>
              <a:latin typeface="DM Sans"/>
              <a:ea typeface="DM Sans"/>
              <a:cs typeface="DM Sans"/>
              <a:sym typeface="DM Sans"/>
            </a:endParaRPr>
          </a:p>
        </p:txBody>
      </p:sp>
      <p:sp>
        <p:nvSpPr>
          <p:cNvPr id="74" name="Google Shape;74;p9"/>
          <p:cNvSpPr/>
          <p:nvPr/>
        </p:nvSpPr>
        <p:spPr>
          <a:xfrm>
            <a:off x="3932955" y="3233641"/>
            <a:ext cx="2938800" cy="848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Intense amounts of  focus and then no focus</a:t>
            </a:r>
            <a:endParaRPr sz="1600">
              <a:solidFill>
                <a:schemeClr val="dk1"/>
              </a:solidFill>
              <a:latin typeface="DM Sans"/>
              <a:ea typeface="DM Sans"/>
              <a:cs typeface="DM Sans"/>
              <a:sym typeface="DM Sans"/>
            </a:endParaRPr>
          </a:p>
        </p:txBody>
      </p:sp>
      <p:sp>
        <p:nvSpPr>
          <p:cNvPr id="75" name="Google Shape;75;p9"/>
          <p:cNvSpPr/>
          <p:nvPr/>
        </p:nvSpPr>
        <p:spPr>
          <a:xfrm>
            <a:off x="7859297" y="1496315"/>
            <a:ext cx="3374100" cy="2237700"/>
          </a:xfrm>
          <a:prstGeom prst="roundRect">
            <a:avLst>
              <a:gd fmla="val 4257"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pic>
        <p:nvPicPr>
          <p:cNvPr descr="Wrench" id="76" name="Google Shape;76;p9"/>
          <p:cNvPicPr preferRelativeResize="0"/>
          <p:nvPr/>
        </p:nvPicPr>
        <p:blipFill rotWithShape="1">
          <a:blip r:embed="rId5">
            <a:alphaModFix/>
          </a:blip>
          <a:srcRect b="0" l="0" r="0" t="0"/>
          <a:stretch/>
        </p:blipFill>
        <p:spPr>
          <a:xfrm>
            <a:off x="8119647" y="1756665"/>
            <a:ext cx="355600" cy="355600"/>
          </a:xfrm>
          <a:prstGeom prst="rect">
            <a:avLst/>
          </a:prstGeom>
          <a:noFill/>
          <a:ln>
            <a:noFill/>
          </a:ln>
        </p:spPr>
      </p:pic>
      <p:sp>
        <p:nvSpPr>
          <p:cNvPr id="77" name="Google Shape;77;p9"/>
          <p:cNvSpPr/>
          <p:nvPr/>
        </p:nvSpPr>
        <p:spPr>
          <a:xfrm>
            <a:off x="8119647" y="2213865"/>
            <a:ext cx="2938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Visual Effects</a:t>
            </a:r>
            <a:endParaRPr sz="2200">
              <a:solidFill>
                <a:schemeClr val="dk1"/>
              </a:solidFill>
              <a:latin typeface="DM Sans"/>
              <a:ea typeface="DM Sans"/>
              <a:cs typeface="DM Sans"/>
              <a:sym typeface="DM Sans"/>
            </a:endParaRPr>
          </a:p>
        </p:txBody>
      </p:sp>
      <p:sp>
        <p:nvSpPr>
          <p:cNvPr id="78" name="Google Shape;78;p9"/>
          <p:cNvSpPr/>
          <p:nvPr/>
        </p:nvSpPr>
        <p:spPr>
          <a:xfrm>
            <a:off x="8119650" y="2650707"/>
            <a:ext cx="2938800" cy="1036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Associating EEGs to potential  visual effects on a screen telepathy style</a:t>
            </a:r>
            <a:endParaRPr sz="1600">
              <a:solidFill>
                <a:schemeClr val="dk1"/>
              </a:solidFill>
              <a:latin typeface="DM Sans"/>
              <a:ea typeface="DM Sans"/>
              <a:cs typeface="DM Sans"/>
              <a:sym typeface="DM Sans"/>
            </a:endParaRPr>
          </a:p>
        </p:txBody>
      </p:sp>
      <p:pic>
        <p:nvPicPr>
          <p:cNvPr descr="What's up Programmers, In this video we're going to create a hand tracking project using the mediapipe library in python&#10;MediaPipe offers open-source cross-platform, customizable ML solutions for live and streaming media.&#10;&#10;*Mediapipe Documentation: https://mediapipe.dev/&#10;&#10;* For Collab,Sponsors &amp; Projects : queriesakpython@yahoo.com&#10;&#10;* Keep support me to get 25K subscribers ❤&#10;&#10;*Ask your Doubts on Instagram: arun.codes&#10;*Ask your Doubts on  Twitter: https://twitter.com/Ak_Python&#10;&#10;* Telegram: https://t.me/s/akpython (1.5K subscribers )&#10;* Github: https://github.com/akpythonyt &#10;* If You get impressed with my work Then Buy me a cup of coffee: https://www.buymeacoffee.com/akpython&#10;* Music by:&#10;chill. by sakura Hz https://soundcloud.com/sakurahertz&#10;Creative Commons — Attribution 3.0 Unported  — CC BY 3.0 &#10;Free Download / Stream: http://bit.ly/chill-sakuraHz&#10;Music promoted by Audio Library https://youtu.be/pF2tXC1pXNo&#10;&#10;* Thanks ..!&#10;&#10;#mediapipe #handtracking #akpython&#10;&#10;All the videos, songs, images, and graphics used in the video belong to their respective owners and I or this channel does not claim any right over them.&#10;&#10;Copyright Disclaimer under section 107 of the Copyright Act of 1976, allowance is made for “fair use” for purposes such as criticism, comment, news reporting, teaching, scholarship, education, and research. Fair use is a use permitted by copyright statute that might otherwise be infringing.”" id="79" name="Google Shape;79;p9" title="Python project : AI hand tracking using python ( Media pipe )">
            <a:hlinkClick r:id="rId6"/>
          </p:cNvPr>
          <p:cNvPicPr preferRelativeResize="0"/>
          <p:nvPr/>
        </p:nvPicPr>
        <p:blipFill>
          <a:blip r:embed="rId7">
            <a:alphaModFix/>
          </a:blip>
          <a:stretch>
            <a:fillRect/>
          </a:stretch>
        </p:blipFill>
        <p:spPr>
          <a:xfrm>
            <a:off x="7172600" y="3837281"/>
            <a:ext cx="4869700" cy="2739200"/>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84" name="Shape 84"/>
        <p:cNvGrpSpPr/>
        <p:nvPr/>
      </p:nvGrpSpPr>
      <p:grpSpPr>
        <a:xfrm>
          <a:off x="0" y="0"/>
          <a:ext cx="0" cy="0"/>
          <a:chOff x="0" y="0"/>
          <a:chExt cx="0" cy="0"/>
        </a:xfrm>
      </p:grpSpPr>
      <p:sp>
        <p:nvSpPr>
          <p:cNvPr id="85" name="Google Shape;85;p10"/>
          <p:cNvSpPr txBox="1"/>
          <p:nvPr>
            <p:ph type="title"/>
          </p:nvPr>
        </p:nvSpPr>
        <p:spPr>
          <a:xfrm>
            <a:off x="812800" y="812800"/>
            <a:ext cx="10883392" cy="52830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6F5F1"/>
              </a:buClr>
              <a:buSzPts val="3600"/>
              <a:buFont typeface="Space Grotesk"/>
              <a:buNone/>
            </a:pPr>
            <a:r>
              <a:rPr b="1" i="0" lang="en-US" sz="3600">
                <a:solidFill>
                  <a:srgbClr val="F6F5F1"/>
                </a:solidFill>
                <a:latin typeface="Space Grotesk"/>
                <a:ea typeface="Space Grotesk"/>
                <a:cs typeface="Space Grotesk"/>
                <a:sym typeface="Space Grotesk"/>
              </a:rPr>
              <a:t>The plan</a:t>
            </a:r>
            <a:endParaRPr sz="3600"/>
          </a:p>
        </p:txBody>
      </p:sp>
      <p:cxnSp>
        <p:nvCxnSpPr>
          <p:cNvPr id="86" name="Google Shape;86;p10"/>
          <p:cNvCxnSpPr/>
          <p:nvPr/>
        </p:nvCxnSpPr>
        <p:spPr>
          <a:xfrm>
            <a:off x="812800" y="1791959"/>
            <a:ext cx="2413000" cy="0"/>
          </a:xfrm>
          <a:prstGeom prst="straightConnector1">
            <a:avLst/>
          </a:prstGeom>
          <a:noFill/>
          <a:ln cap="flat" cmpd="sng" w="38100">
            <a:solidFill>
              <a:srgbClr val="2EC4B6"/>
            </a:solidFill>
            <a:prstDash val="solid"/>
            <a:round/>
            <a:headEnd len="sm" w="sm" type="none"/>
            <a:tailEnd len="sm" w="sm" type="none"/>
          </a:ln>
        </p:spPr>
      </p:cxnSp>
      <p:sp>
        <p:nvSpPr>
          <p:cNvPr id="87" name="Google Shape;87;p10"/>
          <p:cNvSpPr/>
          <p:nvPr/>
        </p:nvSpPr>
        <p:spPr>
          <a:xfrm>
            <a:off x="812800" y="2014209"/>
            <a:ext cx="248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EC4B6"/>
              </a:buClr>
              <a:buSzPts val="1200"/>
              <a:buFont typeface="DM Sans"/>
              <a:buNone/>
            </a:pPr>
            <a:r>
              <a:rPr b="1" lang="en-US" sz="1200">
                <a:solidFill>
                  <a:srgbClr val="2EC4B6"/>
                </a:solidFill>
                <a:latin typeface="DM Sans"/>
                <a:ea typeface="DM Sans"/>
                <a:cs typeface="DM Sans"/>
                <a:sym typeface="DM Sans"/>
              </a:rPr>
              <a:t>WEEKS 1–3</a:t>
            </a:r>
            <a:endParaRPr sz="1200">
              <a:solidFill>
                <a:schemeClr val="dk1"/>
              </a:solidFill>
              <a:latin typeface="DM Sans"/>
              <a:ea typeface="DM Sans"/>
              <a:cs typeface="DM Sans"/>
              <a:sym typeface="DM Sans"/>
            </a:endParaRPr>
          </a:p>
        </p:txBody>
      </p:sp>
      <p:sp>
        <p:nvSpPr>
          <p:cNvPr id="88" name="Google Shape;88;p10"/>
          <p:cNvSpPr/>
          <p:nvPr/>
        </p:nvSpPr>
        <p:spPr>
          <a:xfrm>
            <a:off x="812800" y="2329129"/>
            <a:ext cx="2485390"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b="1" lang="en-US" sz="2200">
                <a:solidFill>
                  <a:srgbClr val="F6F5F1"/>
                </a:solidFill>
                <a:latin typeface="Space Grotesk"/>
                <a:ea typeface="Space Grotesk"/>
                <a:cs typeface="Space Grotesk"/>
                <a:sym typeface="Space Grotesk"/>
              </a:rPr>
              <a:t>Learn &amp; build</a:t>
            </a:r>
            <a:endParaRPr sz="2200">
              <a:solidFill>
                <a:schemeClr val="dk1"/>
              </a:solidFill>
              <a:latin typeface="DM Sans"/>
              <a:ea typeface="DM Sans"/>
              <a:cs typeface="DM Sans"/>
              <a:sym typeface="DM Sans"/>
            </a:endParaRPr>
          </a:p>
        </p:txBody>
      </p:sp>
      <p:sp>
        <p:nvSpPr>
          <p:cNvPr id="89" name="Google Shape;89;p10"/>
          <p:cNvSpPr/>
          <p:nvPr/>
        </p:nvSpPr>
        <p:spPr>
          <a:xfrm>
            <a:off x="812800" y="2765948"/>
            <a:ext cx="2485500" cy="1502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FD8D5"/>
              </a:buClr>
              <a:buSzPts val="1600"/>
              <a:buFont typeface="DM Sans"/>
              <a:buNone/>
            </a:pPr>
            <a:r>
              <a:rPr lang="en-US" sz="1600">
                <a:solidFill>
                  <a:srgbClr val="BFD8D5"/>
                </a:solidFill>
                <a:latin typeface="DM Sans"/>
                <a:ea typeface="DM Sans"/>
                <a:cs typeface="DM Sans"/>
                <a:sym typeface="DM Sans"/>
              </a:rPr>
              <a:t>Figure out the different data and software and hardware everyone will be using</a:t>
            </a:r>
            <a:endParaRPr sz="1600">
              <a:solidFill>
                <a:schemeClr val="dk1"/>
              </a:solidFill>
              <a:latin typeface="DM Sans"/>
              <a:ea typeface="DM Sans"/>
              <a:cs typeface="DM Sans"/>
              <a:sym typeface="DM Sans"/>
            </a:endParaRPr>
          </a:p>
        </p:txBody>
      </p:sp>
      <p:cxnSp>
        <p:nvCxnSpPr>
          <p:cNvPr id="90" name="Google Shape;90;p10"/>
          <p:cNvCxnSpPr/>
          <p:nvPr/>
        </p:nvCxnSpPr>
        <p:spPr>
          <a:xfrm>
            <a:off x="3530600" y="1791959"/>
            <a:ext cx="2413000" cy="0"/>
          </a:xfrm>
          <a:prstGeom prst="straightConnector1">
            <a:avLst/>
          </a:prstGeom>
          <a:noFill/>
          <a:ln cap="flat" cmpd="sng" w="38100">
            <a:solidFill>
              <a:srgbClr val="2EC4B6"/>
            </a:solidFill>
            <a:prstDash val="solid"/>
            <a:round/>
            <a:headEnd len="sm" w="sm" type="none"/>
            <a:tailEnd len="sm" w="sm" type="none"/>
          </a:ln>
        </p:spPr>
      </p:cxnSp>
      <p:sp>
        <p:nvSpPr>
          <p:cNvPr id="91" name="Google Shape;91;p10"/>
          <p:cNvSpPr/>
          <p:nvPr/>
        </p:nvSpPr>
        <p:spPr>
          <a:xfrm>
            <a:off x="3530600" y="2014209"/>
            <a:ext cx="24853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EC4B6"/>
              </a:buClr>
              <a:buSzPts val="1200"/>
              <a:buFont typeface="DM Sans"/>
              <a:buNone/>
            </a:pPr>
            <a:r>
              <a:rPr b="1" lang="en-US" sz="1200">
                <a:solidFill>
                  <a:srgbClr val="2EC4B6"/>
                </a:solidFill>
                <a:latin typeface="DM Sans"/>
                <a:ea typeface="DM Sans"/>
                <a:cs typeface="DM Sans"/>
                <a:sym typeface="DM Sans"/>
              </a:rPr>
              <a:t>WEEKS 4–5</a:t>
            </a:r>
            <a:endParaRPr sz="1200">
              <a:solidFill>
                <a:schemeClr val="dk1"/>
              </a:solidFill>
              <a:latin typeface="DM Sans"/>
              <a:ea typeface="DM Sans"/>
              <a:cs typeface="DM Sans"/>
              <a:sym typeface="DM Sans"/>
            </a:endParaRPr>
          </a:p>
        </p:txBody>
      </p:sp>
      <p:sp>
        <p:nvSpPr>
          <p:cNvPr id="92" name="Google Shape;92;p10"/>
          <p:cNvSpPr/>
          <p:nvPr/>
        </p:nvSpPr>
        <p:spPr>
          <a:xfrm>
            <a:off x="3530600" y="2329129"/>
            <a:ext cx="2485390"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b="1" lang="en-US" sz="2200">
                <a:solidFill>
                  <a:srgbClr val="F6F5F1"/>
                </a:solidFill>
                <a:latin typeface="Space Grotesk"/>
                <a:ea typeface="Space Grotesk"/>
                <a:cs typeface="Space Grotesk"/>
                <a:sym typeface="Space Grotesk"/>
              </a:rPr>
              <a:t>Create Prototypes/Only MindBall</a:t>
            </a:r>
            <a:endParaRPr sz="2200">
              <a:solidFill>
                <a:schemeClr val="dk1"/>
              </a:solidFill>
              <a:latin typeface="DM Sans"/>
              <a:ea typeface="DM Sans"/>
              <a:cs typeface="DM Sans"/>
              <a:sym typeface="DM Sans"/>
            </a:endParaRPr>
          </a:p>
        </p:txBody>
      </p:sp>
      <p:cxnSp>
        <p:nvCxnSpPr>
          <p:cNvPr id="93" name="Google Shape;93;p10"/>
          <p:cNvCxnSpPr/>
          <p:nvPr/>
        </p:nvCxnSpPr>
        <p:spPr>
          <a:xfrm>
            <a:off x="6248400" y="1791959"/>
            <a:ext cx="2413000" cy="0"/>
          </a:xfrm>
          <a:prstGeom prst="straightConnector1">
            <a:avLst/>
          </a:prstGeom>
          <a:noFill/>
          <a:ln cap="flat" cmpd="sng" w="38100">
            <a:solidFill>
              <a:srgbClr val="2EC4B6"/>
            </a:solidFill>
            <a:prstDash val="solid"/>
            <a:round/>
            <a:headEnd len="sm" w="sm" type="none"/>
            <a:tailEnd len="sm" w="sm" type="none"/>
          </a:ln>
        </p:spPr>
      </p:cxnSp>
      <p:sp>
        <p:nvSpPr>
          <p:cNvPr id="94" name="Google Shape;94;p10"/>
          <p:cNvSpPr/>
          <p:nvPr/>
        </p:nvSpPr>
        <p:spPr>
          <a:xfrm>
            <a:off x="6248400" y="2014209"/>
            <a:ext cx="24853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EC4B6"/>
              </a:buClr>
              <a:buSzPts val="1200"/>
              <a:buFont typeface="DM Sans"/>
              <a:buNone/>
            </a:pPr>
            <a:r>
              <a:rPr b="1" lang="en-US" sz="1200">
                <a:solidFill>
                  <a:srgbClr val="2EC4B6"/>
                </a:solidFill>
                <a:latin typeface="DM Sans"/>
                <a:ea typeface="DM Sans"/>
                <a:cs typeface="DM Sans"/>
                <a:sym typeface="DM Sans"/>
              </a:rPr>
              <a:t>WEEK 6 ON</a:t>
            </a:r>
            <a:endParaRPr sz="1200">
              <a:solidFill>
                <a:schemeClr val="dk1"/>
              </a:solidFill>
              <a:latin typeface="DM Sans"/>
              <a:ea typeface="DM Sans"/>
              <a:cs typeface="DM Sans"/>
              <a:sym typeface="DM Sans"/>
            </a:endParaRPr>
          </a:p>
        </p:txBody>
      </p:sp>
      <p:sp>
        <p:nvSpPr>
          <p:cNvPr id="95" name="Google Shape;95;p10"/>
          <p:cNvSpPr/>
          <p:nvPr/>
        </p:nvSpPr>
        <p:spPr>
          <a:xfrm>
            <a:off x="6248400" y="2329129"/>
            <a:ext cx="2485390"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b="1" lang="en-US" sz="2200">
                <a:solidFill>
                  <a:srgbClr val="F6F5F1"/>
                </a:solidFill>
                <a:latin typeface="Space Grotesk"/>
                <a:ea typeface="Space Grotesk"/>
                <a:cs typeface="Space Grotesk"/>
                <a:sym typeface="Space Grotesk"/>
              </a:rPr>
              <a:t>Finish MindBall</a:t>
            </a:r>
            <a:endParaRPr sz="2200">
              <a:solidFill>
                <a:schemeClr val="dk1"/>
              </a:solidFill>
              <a:latin typeface="DM Sans"/>
              <a:ea typeface="DM Sans"/>
              <a:cs typeface="DM Sans"/>
              <a:sym typeface="DM Sans"/>
            </a:endParaRPr>
          </a:p>
        </p:txBody>
      </p:sp>
      <p:sp>
        <p:nvSpPr>
          <p:cNvPr id="96" name="Google Shape;96;p10"/>
          <p:cNvSpPr/>
          <p:nvPr/>
        </p:nvSpPr>
        <p:spPr>
          <a:xfrm>
            <a:off x="6248400" y="2765955"/>
            <a:ext cx="2485390" cy="8483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FD8D5"/>
              </a:buClr>
              <a:buSzPts val="1600"/>
              <a:buFont typeface="DM Sans"/>
              <a:buNone/>
            </a:pPr>
            <a:r>
              <a:rPr lang="en-US" sz="1600">
                <a:solidFill>
                  <a:srgbClr val="BFD8D5"/>
                </a:solidFill>
                <a:latin typeface="DM Sans"/>
                <a:ea typeface="DM Sans"/>
                <a:cs typeface="DM Sans"/>
                <a:sym typeface="DM Sans"/>
              </a:rPr>
              <a:t>Get MindBall fully fleshed out and working</a:t>
            </a:r>
            <a:endParaRPr sz="1600">
              <a:solidFill>
                <a:schemeClr val="dk1"/>
              </a:solidFill>
              <a:latin typeface="DM Sans"/>
              <a:ea typeface="DM Sans"/>
              <a:cs typeface="DM Sans"/>
              <a:sym typeface="DM Sans"/>
            </a:endParaRPr>
          </a:p>
        </p:txBody>
      </p:sp>
      <p:cxnSp>
        <p:nvCxnSpPr>
          <p:cNvPr id="97" name="Google Shape;97;p10"/>
          <p:cNvCxnSpPr/>
          <p:nvPr/>
        </p:nvCxnSpPr>
        <p:spPr>
          <a:xfrm>
            <a:off x="8966200" y="1791959"/>
            <a:ext cx="2413000" cy="0"/>
          </a:xfrm>
          <a:prstGeom prst="straightConnector1">
            <a:avLst/>
          </a:prstGeom>
          <a:noFill/>
          <a:ln cap="flat" cmpd="sng" w="38100">
            <a:solidFill>
              <a:srgbClr val="FF9F1C"/>
            </a:solidFill>
            <a:prstDash val="solid"/>
            <a:round/>
            <a:headEnd len="sm" w="sm" type="none"/>
            <a:tailEnd len="sm" w="sm" type="none"/>
          </a:ln>
        </p:spPr>
      </p:cxnSp>
      <p:sp>
        <p:nvSpPr>
          <p:cNvPr id="98" name="Google Shape;98;p10"/>
          <p:cNvSpPr/>
          <p:nvPr/>
        </p:nvSpPr>
        <p:spPr>
          <a:xfrm>
            <a:off x="8966200" y="2014209"/>
            <a:ext cx="24853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9F1C"/>
              </a:buClr>
              <a:buSzPts val="1200"/>
              <a:buFont typeface="DM Sans"/>
              <a:buNone/>
            </a:pPr>
            <a:r>
              <a:rPr b="1" lang="en-US" sz="1200">
                <a:solidFill>
                  <a:srgbClr val="FF9F1C"/>
                </a:solidFill>
                <a:latin typeface="DM Sans"/>
                <a:ea typeface="DM Sans"/>
                <a:cs typeface="DM Sans"/>
                <a:sym typeface="DM Sans"/>
              </a:rPr>
              <a:t>END OF YEAR</a:t>
            </a:r>
            <a:endParaRPr sz="1200">
              <a:solidFill>
                <a:schemeClr val="dk1"/>
              </a:solidFill>
              <a:latin typeface="DM Sans"/>
              <a:ea typeface="DM Sans"/>
              <a:cs typeface="DM Sans"/>
              <a:sym typeface="DM Sans"/>
            </a:endParaRPr>
          </a:p>
        </p:txBody>
      </p:sp>
      <p:sp>
        <p:nvSpPr>
          <p:cNvPr id="99" name="Google Shape;99;p10"/>
          <p:cNvSpPr/>
          <p:nvPr/>
        </p:nvSpPr>
        <p:spPr>
          <a:xfrm>
            <a:off x="8966200" y="2329129"/>
            <a:ext cx="2485390"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b="1" lang="en-US" sz="2200">
                <a:solidFill>
                  <a:srgbClr val="F6F5F1"/>
                </a:solidFill>
                <a:latin typeface="Space Grotesk"/>
                <a:ea typeface="Space Grotesk"/>
                <a:cs typeface="Space Grotesk"/>
                <a:sym typeface="Space Grotesk"/>
              </a:rPr>
              <a:t>Showcase</a:t>
            </a:r>
            <a:endParaRPr sz="2200">
              <a:solidFill>
                <a:schemeClr val="dk1"/>
              </a:solidFill>
              <a:latin typeface="DM Sans"/>
              <a:ea typeface="DM Sans"/>
              <a:cs typeface="DM Sans"/>
              <a:sym typeface="DM Sans"/>
            </a:endParaRPr>
          </a:p>
        </p:txBody>
      </p:sp>
      <p:sp>
        <p:nvSpPr>
          <p:cNvPr id="100" name="Google Shape;100;p10"/>
          <p:cNvSpPr/>
          <p:nvPr/>
        </p:nvSpPr>
        <p:spPr>
          <a:xfrm>
            <a:off x="8966200" y="2765955"/>
            <a:ext cx="2485390" cy="57401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FD8D5"/>
              </a:buClr>
              <a:buSzPts val="1600"/>
              <a:buFont typeface="DM Sans"/>
              <a:buNone/>
            </a:pPr>
            <a:r>
              <a:rPr lang="en-US" sz="1600">
                <a:solidFill>
                  <a:srgbClr val="BFD8D5"/>
                </a:solidFill>
                <a:latin typeface="DM Sans"/>
                <a:ea typeface="DM Sans"/>
                <a:cs typeface="DM Sans"/>
                <a:sym typeface="DM Sans"/>
              </a:rPr>
              <a:t>Live Mindball and every game on showcase</a:t>
            </a:r>
            <a:endParaRPr sz="1600">
              <a:solidFill>
                <a:schemeClr val="dk1"/>
              </a:solidFill>
              <a:latin typeface="DM Sans"/>
              <a:ea typeface="DM Sans"/>
              <a:cs typeface="DM Sans"/>
              <a:sym typeface="DM Sans"/>
            </a:endParaRPr>
          </a:p>
        </p:txBody>
      </p:sp>
      <p:sp>
        <p:nvSpPr>
          <p:cNvPr id="101" name="Google Shape;101;p10"/>
          <p:cNvSpPr/>
          <p:nvPr/>
        </p:nvSpPr>
        <p:spPr>
          <a:xfrm>
            <a:off x="3541252" y="3677780"/>
            <a:ext cx="2485500" cy="1122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FD8D5"/>
              </a:buClr>
              <a:buSzPts val="1600"/>
              <a:buFont typeface="DM Sans"/>
              <a:buNone/>
            </a:pPr>
            <a:r>
              <a:rPr lang="en-US" sz="1600">
                <a:solidFill>
                  <a:srgbClr val="BFD8D5"/>
                </a:solidFill>
                <a:latin typeface="DM Sans"/>
                <a:ea typeface="DM Sans"/>
                <a:cs typeface="DM Sans"/>
                <a:sym typeface="DM Sans"/>
              </a:rPr>
              <a:t>Create prototypes of MindBall, and other potential minigames depending on  progress</a:t>
            </a:r>
            <a:endParaRPr sz="16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06" name="Shape 106"/>
        <p:cNvGrpSpPr/>
        <p:nvPr/>
      </p:nvGrpSpPr>
      <p:grpSpPr>
        <a:xfrm>
          <a:off x="0" y="0"/>
          <a:ext cx="0" cy="0"/>
          <a:chOff x="0" y="0"/>
          <a:chExt cx="0" cy="0"/>
        </a:xfrm>
      </p:grpSpPr>
      <p:sp>
        <p:nvSpPr>
          <p:cNvPr id="107" name="Google Shape;107;p11"/>
          <p:cNvSpPr txBox="1"/>
          <p:nvPr>
            <p:ph type="title"/>
          </p:nvPr>
        </p:nvSpPr>
        <p:spPr>
          <a:xfrm>
            <a:off x="812800" y="812800"/>
            <a:ext cx="10883392" cy="52830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600"/>
              <a:buFont typeface="Space Grotesk"/>
              <a:buNone/>
            </a:pPr>
            <a:r>
              <a:rPr b="1" i="0" lang="en-US" sz="3600">
                <a:solidFill>
                  <a:srgbClr val="14213D"/>
                </a:solidFill>
                <a:latin typeface="Space Grotesk"/>
                <a:ea typeface="Space Grotesk"/>
                <a:cs typeface="Space Grotesk"/>
                <a:sym typeface="Space Grotesk"/>
              </a:rPr>
              <a:t>How we’ll form groups</a:t>
            </a:r>
            <a:endParaRPr sz="3600"/>
          </a:p>
        </p:txBody>
      </p:sp>
      <p:sp>
        <p:nvSpPr>
          <p:cNvPr id="108" name="Google Shape;108;p11"/>
          <p:cNvSpPr/>
          <p:nvPr/>
        </p:nvSpPr>
        <p:spPr>
          <a:xfrm>
            <a:off x="819150" y="1677659"/>
            <a:ext cx="5168900" cy="2288381"/>
          </a:xfrm>
          <a:prstGeom prst="roundRect">
            <a:avLst>
              <a:gd fmla="val 4162"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9" name="Google Shape;109;p11"/>
          <p:cNvSpPr/>
          <p:nvPr/>
        </p:nvSpPr>
        <p:spPr>
          <a:xfrm>
            <a:off x="1130300" y="1988809"/>
            <a:ext cx="4682998"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A short form asks</a:t>
            </a:r>
            <a:endParaRPr sz="2200">
              <a:solidFill>
                <a:schemeClr val="dk1"/>
              </a:solidFill>
              <a:latin typeface="DM Sans"/>
              <a:ea typeface="DM Sans"/>
              <a:cs typeface="DM Sans"/>
              <a:sym typeface="DM Sans"/>
            </a:endParaRPr>
          </a:p>
        </p:txBody>
      </p:sp>
      <p:sp>
        <p:nvSpPr>
          <p:cNvPr id="110" name="Google Shape;110;p11"/>
          <p:cNvSpPr/>
          <p:nvPr/>
        </p:nvSpPr>
        <p:spPr>
          <a:xfrm>
            <a:off x="1172898" y="2476435"/>
            <a:ext cx="4632780" cy="909241"/>
          </a:xfrm>
          <a:prstGeom prst="rect">
            <a:avLst/>
          </a:prstGeom>
          <a:noFill/>
          <a:ln>
            <a:noFill/>
          </a:ln>
        </p:spPr>
        <p:txBody>
          <a:bodyPr anchorCtr="0" anchor="t" bIns="0" lIns="0" spcFirstLastPara="1" rIns="0" wrap="square" tIns="0">
            <a:noAutofit/>
          </a:bodyPr>
          <a:lstStyle/>
          <a:p>
            <a:pPr indent="-211402" lvl="0" marL="211402" marR="0" rtl="0" algn="l">
              <a:lnSpc>
                <a:spcPct val="145000"/>
              </a:lnSpc>
              <a:spcBef>
                <a:spcPts val="0"/>
              </a:spcBef>
              <a:spcAft>
                <a:spcPts val="0"/>
              </a:spcAft>
              <a:buClr>
                <a:srgbClr val="4A5568"/>
              </a:buClr>
              <a:buSzPts val="1600"/>
              <a:buFont typeface="DM Sans"/>
              <a:buAutoNum type="arabicPeriod"/>
            </a:pPr>
            <a:r>
              <a:rPr lang="en-US" sz="1600">
                <a:solidFill>
                  <a:srgbClr val="4A5568"/>
                </a:solidFill>
                <a:latin typeface="DM Sans"/>
                <a:ea typeface="DM Sans"/>
                <a:cs typeface="DM Sans"/>
                <a:sym typeface="DM Sans"/>
              </a:rPr>
              <a:t>How comfortable are you with coding? (1–3)</a:t>
            </a:r>
            <a:endParaRPr sz="1600">
              <a:solidFill>
                <a:schemeClr val="dk1"/>
              </a:solidFill>
              <a:latin typeface="DM Sans"/>
              <a:ea typeface="DM Sans"/>
              <a:cs typeface="DM Sans"/>
              <a:sym typeface="DM Sans"/>
            </a:endParaRPr>
          </a:p>
          <a:p>
            <a:pPr indent="-211402" lvl="0" marL="211402" marR="0" rtl="0" algn="l">
              <a:lnSpc>
                <a:spcPct val="145000"/>
              </a:lnSpc>
              <a:spcBef>
                <a:spcPts val="0"/>
              </a:spcBef>
              <a:spcAft>
                <a:spcPts val="0"/>
              </a:spcAft>
              <a:buClr>
                <a:srgbClr val="4A5568"/>
              </a:buClr>
              <a:buSzPts val="1600"/>
              <a:buFont typeface="DM Sans"/>
              <a:buAutoNum type="arabicPeriod"/>
            </a:pPr>
            <a:r>
              <a:rPr lang="en-US" sz="1600">
                <a:solidFill>
                  <a:srgbClr val="4A5568"/>
                </a:solidFill>
                <a:latin typeface="DM Sans"/>
                <a:ea typeface="DM Sans"/>
                <a:cs typeface="DM Sans"/>
                <a:sym typeface="DM Sans"/>
              </a:rPr>
              <a:t>How much neuroscience background do you have? (1–3)</a:t>
            </a:r>
            <a:endParaRPr sz="1600">
              <a:solidFill>
                <a:schemeClr val="dk1"/>
              </a:solidFill>
              <a:latin typeface="DM Sans"/>
              <a:ea typeface="DM Sans"/>
              <a:cs typeface="DM Sans"/>
              <a:sym typeface="DM Sans"/>
            </a:endParaRPr>
          </a:p>
        </p:txBody>
      </p:sp>
      <p:sp>
        <p:nvSpPr>
          <p:cNvPr id="111" name="Google Shape;111;p11"/>
          <p:cNvSpPr/>
          <p:nvPr/>
        </p:nvSpPr>
        <p:spPr>
          <a:xfrm>
            <a:off x="6203950" y="1677659"/>
            <a:ext cx="5168900" cy="2288381"/>
          </a:xfrm>
          <a:prstGeom prst="roundRect">
            <a:avLst>
              <a:gd fmla="val 4162"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2" name="Google Shape;112;p11"/>
          <p:cNvSpPr/>
          <p:nvPr/>
        </p:nvSpPr>
        <p:spPr>
          <a:xfrm>
            <a:off x="6515100" y="1988809"/>
            <a:ext cx="4682998" cy="3606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Every group gets</a:t>
            </a:r>
            <a:endParaRPr sz="2200">
              <a:solidFill>
                <a:schemeClr val="dk1"/>
              </a:solidFill>
              <a:latin typeface="DM Sans"/>
              <a:ea typeface="DM Sans"/>
              <a:cs typeface="DM Sans"/>
              <a:sym typeface="DM Sans"/>
            </a:endParaRPr>
          </a:p>
        </p:txBody>
      </p:sp>
      <p:sp>
        <p:nvSpPr>
          <p:cNvPr id="113" name="Google Shape;113;p11"/>
          <p:cNvSpPr/>
          <p:nvPr/>
        </p:nvSpPr>
        <p:spPr>
          <a:xfrm>
            <a:off x="6579108" y="2476435"/>
            <a:ext cx="4611370" cy="1203854"/>
          </a:xfrm>
          <a:prstGeom prst="rect">
            <a:avLst/>
          </a:prstGeom>
          <a:noFill/>
          <a:ln>
            <a:noFill/>
          </a:ln>
        </p:spPr>
        <p:txBody>
          <a:bodyPr anchorCtr="0" anchor="t" bIns="0" lIns="0" spcFirstLastPara="1" rIns="0" wrap="square" tIns="0">
            <a:noAutofit/>
          </a:bodyPr>
          <a:lstStyle/>
          <a:p>
            <a:pPr indent="-189992" lvl="0" marL="189992" marR="0" rtl="0" algn="l">
              <a:lnSpc>
                <a:spcPct val="145000"/>
              </a:lnSpc>
              <a:spcBef>
                <a:spcPts val="0"/>
              </a:spcBef>
              <a:spcAft>
                <a:spcPts val="0"/>
              </a:spcAft>
              <a:buClr>
                <a:srgbClr val="4A5568"/>
              </a:buClr>
              <a:buSzPts val="1600"/>
              <a:buFont typeface="DM Sans"/>
              <a:buChar char="•"/>
            </a:pPr>
            <a:r>
              <a:rPr lang="en-US" sz="1600">
                <a:solidFill>
                  <a:srgbClr val="4A5568"/>
                </a:solidFill>
                <a:latin typeface="DM Sans"/>
                <a:ea typeface="DM Sans"/>
                <a:cs typeface="DM Sans"/>
                <a:sym typeface="DM Sans"/>
              </a:rPr>
              <a:t>A confident coder</a:t>
            </a:r>
            <a:endParaRPr sz="1600">
              <a:solidFill>
                <a:schemeClr val="dk1"/>
              </a:solidFill>
              <a:latin typeface="DM Sans"/>
              <a:ea typeface="DM Sans"/>
              <a:cs typeface="DM Sans"/>
              <a:sym typeface="DM Sans"/>
            </a:endParaRPr>
          </a:p>
          <a:p>
            <a:pPr indent="-189992" lvl="0" marL="189992" marR="0" rtl="0" algn="l">
              <a:lnSpc>
                <a:spcPct val="145000"/>
              </a:lnSpc>
              <a:spcBef>
                <a:spcPts val="0"/>
              </a:spcBef>
              <a:spcAft>
                <a:spcPts val="0"/>
              </a:spcAft>
              <a:buClr>
                <a:srgbClr val="4A5568"/>
              </a:buClr>
              <a:buSzPts val="1600"/>
              <a:buFont typeface="DM Sans"/>
              <a:buChar char="•"/>
            </a:pPr>
            <a:r>
              <a:rPr lang="en-US" sz="1600">
                <a:solidFill>
                  <a:srgbClr val="4A5568"/>
                </a:solidFill>
                <a:latin typeface="DM Sans"/>
                <a:ea typeface="DM Sans"/>
                <a:cs typeface="DM Sans"/>
                <a:sym typeface="DM Sans"/>
              </a:rPr>
              <a:t>Someone with a neuro background</a:t>
            </a:r>
            <a:endParaRPr sz="1600">
              <a:solidFill>
                <a:schemeClr val="dk1"/>
              </a:solidFill>
              <a:latin typeface="DM Sans"/>
              <a:ea typeface="DM Sans"/>
              <a:cs typeface="DM Sans"/>
              <a:sym typeface="DM Sans"/>
            </a:endParaRPr>
          </a:p>
          <a:p>
            <a:pPr indent="-189992" lvl="0" marL="189992" marR="0" rtl="0" algn="l">
              <a:lnSpc>
                <a:spcPct val="145000"/>
              </a:lnSpc>
              <a:spcBef>
                <a:spcPts val="0"/>
              </a:spcBef>
              <a:spcAft>
                <a:spcPts val="0"/>
              </a:spcAft>
              <a:buClr>
                <a:srgbClr val="4A5568"/>
              </a:buClr>
              <a:buSzPts val="1600"/>
              <a:buFont typeface="DM Sans"/>
              <a:buChar char="•"/>
            </a:pPr>
            <a:r>
              <a:rPr lang="en-US" sz="1600">
                <a:solidFill>
                  <a:srgbClr val="4A5568"/>
                </a:solidFill>
                <a:latin typeface="DM Sans"/>
                <a:ea typeface="DM Sans"/>
                <a:cs typeface="DM Sans"/>
                <a:sym typeface="DM Sans"/>
              </a:rPr>
              <a:t>A mix of experience levels</a:t>
            </a:r>
            <a:endParaRPr sz="1600">
              <a:solidFill>
                <a:schemeClr val="dk1"/>
              </a:solidFill>
              <a:latin typeface="DM Sans"/>
              <a:ea typeface="DM Sans"/>
              <a:cs typeface="DM Sans"/>
              <a:sym typeface="DM Sans"/>
            </a:endParaRPr>
          </a:p>
        </p:txBody>
      </p:sp>
      <p:sp>
        <p:nvSpPr>
          <p:cNvPr id="114" name="Google Shape;114;p11"/>
          <p:cNvSpPr/>
          <p:nvPr/>
        </p:nvSpPr>
        <p:spPr>
          <a:xfrm>
            <a:off x="812800" y="4327990"/>
            <a:ext cx="10883392" cy="29970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Groups can reshuffle in week 4, when we pick mini-games.</a:t>
            </a:r>
            <a:endParaRPr sz="16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2"/>
          <p:cNvSpPr txBox="1"/>
          <p:nvPr>
            <p:ph type="title"/>
          </p:nvPr>
        </p:nvSpPr>
        <p:spPr>
          <a:xfrm>
            <a:off x="812800" y="812800"/>
            <a:ext cx="10566300" cy="50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General Project Workflow</a:t>
            </a:r>
            <a:endParaRPr/>
          </a:p>
        </p:txBody>
      </p:sp>
      <p:sp>
        <p:nvSpPr>
          <p:cNvPr id="120" name="Google Shape;120;p12"/>
          <p:cNvSpPr txBox="1"/>
          <p:nvPr>
            <p:ph idx="1" type="body"/>
          </p:nvPr>
        </p:nvSpPr>
        <p:spPr>
          <a:xfrm>
            <a:off x="812800" y="1620507"/>
            <a:ext cx="10566300" cy="4424700"/>
          </a:xfrm>
          <a:prstGeom prst="rect">
            <a:avLst/>
          </a:prstGeom>
        </p:spPr>
        <p:txBody>
          <a:bodyPr anchorCtr="0" anchor="t" bIns="0" lIns="0" spcFirstLastPara="1" rIns="0" wrap="square" tIns="0">
            <a:noAutofit/>
          </a:bodyPr>
          <a:lstStyle/>
          <a:p>
            <a:pPr indent="0" lvl="0" marL="0" rtl="0" algn="l">
              <a:spcBef>
                <a:spcPts val="320"/>
              </a:spcBef>
              <a:spcAft>
                <a:spcPts val="0"/>
              </a:spcAft>
              <a:buNone/>
            </a:pPr>
            <a:r>
              <a:t/>
            </a:r>
            <a:endParaRPr/>
          </a:p>
          <a:p>
            <a:pPr indent="0" lvl="0" marL="0" rtl="0" algn="l">
              <a:spcBef>
                <a:spcPts val="320"/>
              </a:spcBef>
              <a:spcAft>
                <a:spcPts val="0"/>
              </a:spcAft>
              <a:buNone/>
            </a:pPr>
            <a:r>
              <a:t/>
            </a:r>
            <a:endParaRPr/>
          </a:p>
        </p:txBody>
      </p:sp>
      <p:grpSp>
        <p:nvGrpSpPr>
          <p:cNvPr id="121" name="Google Shape;121;p12"/>
          <p:cNvGrpSpPr/>
          <p:nvPr/>
        </p:nvGrpSpPr>
        <p:grpSpPr>
          <a:xfrm>
            <a:off x="0" y="1586613"/>
            <a:ext cx="3635509" cy="4643665"/>
            <a:chOff x="0" y="1189989"/>
            <a:chExt cx="2726700" cy="3482836"/>
          </a:xfrm>
        </p:grpSpPr>
        <p:sp>
          <p:nvSpPr>
            <p:cNvPr id="122" name="Google Shape;122;p12"/>
            <p:cNvSpPr/>
            <p:nvPr/>
          </p:nvSpPr>
          <p:spPr>
            <a:xfrm>
              <a:off x="0" y="1189989"/>
              <a:ext cx="2726700" cy="669000"/>
            </a:xfrm>
            <a:prstGeom prst="homePlate">
              <a:avLst>
                <a:gd fmla="val 50000" name="adj"/>
              </a:avLst>
            </a:prstGeom>
            <a:solidFill>
              <a:srgbClr val="801F1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900">
                  <a:solidFill>
                    <a:srgbClr val="FFFFFF"/>
                  </a:solidFill>
                  <a:latin typeface="Roboto"/>
                  <a:ea typeface="Roboto"/>
                  <a:cs typeface="Roboto"/>
                  <a:sym typeface="Roboto"/>
                </a:rPr>
                <a:t>EEG Scan</a:t>
              </a:r>
              <a:endParaRPr sz="1900">
                <a:solidFill>
                  <a:srgbClr val="FFFFFF"/>
                </a:solidFill>
                <a:latin typeface="Roboto"/>
                <a:ea typeface="Roboto"/>
                <a:cs typeface="Roboto"/>
                <a:sym typeface="Roboto"/>
              </a:endParaRPr>
            </a:p>
          </p:txBody>
        </p:sp>
        <p:sp>
          <p:nvSpPr>
            <p:cNvPr id="123" name="Google Shape;123;p12"/>
            <p:cNvSpPr txBox="1"/>
            <p:nvPr/>
          </p:nvSpPr>
          <p:spPr>
            <a:xfrm>
              <a:off x="410850" y="2057125"/>
              <a:ext cx="1905000" cy="26157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600">
                  <a:latin typeface="Roboto"/>
                  <a:ea typeface="Roboto"/>
                  <a:cs typeface="Roboto"/>
                  <a:sym typeface="Roboto"/>
                </a:rPr>
                <a:t>Calibrate EEGs and detect brain waves, </a:t>
              </a:r>
              <a:r>
                <a:rPr lang="en-US" sz="1600">
                  <a:latin typeface="Roboto"/>
                  <a:ea typeface="Roboto"/>
                  <a:cs typeface="Roboto"/>
                  <a:sym typeface="Roboto"/>
                </a:rPr>
                <a:t>transferring</a:t>
              </a:r>
              <a:r>
                <a:rPr lang="en-US" sz="1600">
                  <a:latin typeface="Roboto"/>
                  <a:ea typeface="Roboto"/>
                  <a:cs typeface="Roboto"/>
                  <a:sym typeface="Roboto"/>
                </a:rPr>
                <a:t> information to computer</a:t>
              </a:r>
              <a:endParaRPr sz="1600">
                <a:latin typeface="Roboto"/>
                <a:ea typeface="Roboto"/>
                <a:cs typeface="Roboto"/>
                <a:sym typeface="Roboto"/>
              </a:endParaRPr>
            </a:p>
          </p:txBody>
        </p:sp>
      </p:grpSp>
      <p:grpSp>
        <p:nvGrpSpPr>
          <p:cNvPr id="124" name="Google Shape;124;p12"/>
          <p:cNvGrpSpPr/>
          <p:nvPr/>
        </p:nvGrpSpPr>
        <p:grpSpPr>
          <a:xfrm>
            <a:off x="3017825" y="1586327"/>
            <a:ext cx="3388315" cy="4643951"/>
            <a:chOff x="2263425" y="1189775"/>
            <a:chExt cx="2541300" cy="3483050"/>
          </a:xfrm>
        </p:grpSpPr>
        <p:sp>
          <p:nvSpPr>
            <p:cNvPr id="125" name="Google Shape;125;p12"/>
            <p:cNvSpPr/>
            <p:nvPr/>
          </p:nvSpPr>
          <p:spPr>
            <a:xfrm>
              <a:off x="2263425" y="1189775"/>
              <a:ext cx="2541300" cy="669000"/>
            </a:xfrm>
            <a:prstGeom prst="chevron">
              <a:avLst>
                <a:gd fmla="val 50000" name="adj"/>
              </a:avLst>
            </a:prstGeom>
            <a:solidFill>
              <a:srgbClr val="A7291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900">
                  <a:solidFill>
                    <a:srgbClr val="FFFFFF"/>
                  </a:solidFill>
                  <a:latin typeface="Roboto"/>
                  <a:ea typeface="Roboto"/>
                  <a:cs typeface="Roboto"/>
                  <a:sym typeface="Roboto"/>
                </a:rPr>
                <a:t>Process Signal</a:t>
              </a:r>
              <a:endParaRPr sz="1900">
                <a:solidFill>
                  <a:srgbClr val="FFFFFF"/>
                </a:solidFill>
                <a:latin typeface="Roboto"/>
                <a:ea typeface="Roboto"/>
                <a:cs typeface="Roboto"/>
                <a:sym typeface="Roboto"/>
              </a:endParaRPr>
            </a:p>
          </p:txBody>
        </p:sp>
        <p:sp>
          <p:nvSpPr>
            <p:cNvPr id="126" name="Google Shape;126;p12"/>
            <p:cNvSpPr txBox="1"/>
            <p:nvPr/>
          </p:nvSpPr>
          <p:spPr>
            <a:xfrm>
              <a:off x="2512202" y="2057125"/>
              <a:ext cx="1905000" cy="26157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600">
                  <a:latin typeface="Roboto"/>
                  <a:ea typeface="Roboto"/>
                  <a:cs typeface="Roboto"/>
                  <a:sym typeface="Roboto"/>
                </a:rPr>
                <a:t>Take raw EEG data from both players and interpret it into focus index or some quantifiable metric that continuously changes over time, sending metric to game state script</a:t>
              </a:r>
              <a:endParaRPr sz="1600">
                <a:latin typeface="Roboto"/>
                <a:ea typeface="Roboto"/>
                <a:cs typeface="Roboto"/>
                <a:sym typeface="Roboto"/>
              </a:endParaRPr>
            </a:p>
          </p:txBody>
        </p:sp>
      </p:grpSp>
      <p:grpSp>
        <p:nvGrpSpPr>
          <p:cNvPr id="127" name="Google Shape;127;p12"/>
          <p:cNvGrpSpPr/>
          <p:nvPr/>
        </p:nvGrpSpPr>
        <p:grpSpPr>
          <a:xfrm>
            <a:off x="5773154" y="1586327"/>
            <a:ext cx="3388315" cy="4643951"/>
            <a:chOff x="4329974" y="1189775"/>
            <a:chExt cx="2541300" cy="3483050"/>
          </a:xfrm>
        </p:grpSpPr>
        <p:sp>
          <p:nvSpPr>
            <p:cNvPr id="128" name="Google Shape;128;p12"/>
            <p:cNvSpPr/>
            <p:nvPr/>
          </p:nvSpPr>
          <p:spPr>
            <a:xfrm>
              <a:off x="4329974" y="1189775"/>
              <a:ext cx="2541300" cy="669000"/>
            </a:xfrm>
            <a:prstGeom prst="chevron">
              <a:avLst>
                <a:gd fmla="val 50000" name="adj"/>
              </a:avLst>
            </a:prstGeom>
            <a:solidFill>
              <a:srgbClr val="B02B2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900">
                  <a:solidFill>
                    <a:srgbClr val="FFFFFF"/>
                  </a:solidFill>
                  <a:latin typeface="Roboto"/>
                  <a:ea typeface="Roboto"/>
                  <a:cs typeface="Roboto"/>
                  <a:sym typeface="Roboto"/>
                </a:rPr>
                <a:t>Calculate Game State</a:t>
              </a:r>
              <a:endParaRPr sz="1900">
                <a:solidFill>
                  <a:srgbClr val="FFFFFF"/>
                </a:solidFill>
                <a:latin typeface="Roboto"/>
                <a:ea typeface="Roboto"/>
                <a:cs typeface="Roboto"/>
                <a:sym typeface="Roboto"/>
              </a:endParaRPr>
            </a:p>
          </p:txBody>
        </p:sp>
        <p:sp>
          <p:nvSpPr>
            <p:cNvPr id="129" name="Google Shape;129;p12"/>
            <p:cNvSpPr txBox="1"/>
            <p:nvPr/>
          </p:nvSpPr>
          <p:spPr>
            <a:xfrm>
              <a:off x="4613553" y="2057125"/>
              <a:ext cx="1905000" cy="26157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600">
                  <a:latin typeface="Roboto"/>
                  <a:ea typeface="Roboto"/>
                  <a:cs typeface="Roboto"/>
                  <a:sym typeface="Roboto"/>
                </a:rPr>
                <a:t>From the processed signal, update the game state and send information to hardware</a:t>
              </a:r>
              <a:endParaRPr sz="1600">
                <a:latin typeface="Roboto"/>
                <a:ea typeface="Roboto"/>
                <a:cs typeface="Roboto"/>
                <a:sym typeface="Roboto"/>
              </a:endParaRPr>
            </a:p>
          </p:txBody>
        </p:sp>
      </p:grpSp>
      <p:grpSp>
        <p:nvGrpSpPr>
          <p:cNvPr id="130" name="Google Shape;130;p12"/>
          <p:cNvGrpSpPr/>
          <p:nvPr/>
        </p:nvGrpSpPr>
        <p:grpSpPr>
          <a:xfrm>
            <a:off x="8528772" y="1586327"/>
            <a:ext cx="3388315" cy="4643951"/>
            <a:chOff x="6396739" y="1189775"/>
            <a:chExt cx="2541300" cy="3483050"/>
          </a:xfrm>
        </p:grpSpPr>
        <p:sp>
          <p:nvSpPr>
            <p:cNvPr id="131" name="Google Shape;131;p12"/>
            <p:cNvSpPr/>
            <p:nvPr/>
          </p:nvSpPr>
          <p:spPr>
            <a:xfrm>
              <a:off x="6396739" y="1189775"/>
              <a:ext cx="2541300" cy="669000"/>
            </a:xfrm>
            <a:prstGeom prst="chevron">
              <a:avLst>
                <a:gd fmla="val 50000" name="adj"/>
              </a:avLst>
            </a:prstGeom>
            <a:solidFill>
              <a:srgbClr val="BE2F22"/>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900">
                  <a:solidFill>
                    <a:srgbClr val="FFFFFF"/>
                  </a:solidFill>
                  <a:latin typeface="Roboto"/>
                  <a:ea typeface="Roboto"/>
                  <a:cs typeface="Roboto"/>
                  <a:sym typeface="Roboto"/>
                </a:rPr>
                <a:t>Display on Arduino/Hardware</a:t>
              </a:r>
              <a:endParaRPr sz="1900">
                <a:solidFill>
                  <a:srgbClr val="FFFFFF"/>
                </a:solidFill>
                <a:latin typeface="Roboto"/>
                <a:ea typeface="Roboto"/>
                <a:cs typeface="Roboto"/>
                <a:sym typeface="Roboto"/>
              </a:endParaRPr>
            </a:p>
          </p:txBody>
        </p:sp>
        <p:sp>
          <p:nvSpPr>
            <p:cNvPr id="132" name="Google Shape;132;p12"/>
            <p:cNvSpPr txBox="1"/>
            <p:nvPr/>
          </p:nvSpPr>
          <p:spPr>
            <a:xfrm>
              <a:off x="6714905" y="2057125"/>
              <a:ext cx="1905000" cy="26157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600">
                  <a:latin typeface="Roboto"/>
                  <a:ea typeface="Roboto"/>
                  <a:cs typeface="Roboto"/>
                  <a:sym typeface="Roboto"/>
                </a:rPr>
                <a:t>Display game state on hardware (ex: LED strip showing current advantage)</a:t>
              </a:r>
              <a:endParaRPr sz="1600">
                <a:latin typeface="Roboto"/>
                <a:ea typeface="Roboto"/>
                <a:cs typeface="Roboto"/>
                <a:sym typeface="Robot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3"/>
          <p:cNvSpPr txBox="1"/>
          <p:nvPr>
            <p:ph type="title"/>
          </p:nvPr>
        </p:nvSpPr>
        <p:spPr>
          <a:xfrm>
            <a:off x="812800" y="812800"/>
            <a:ext cx="10566300" cy="5028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sz="2800"/>
              <a:t>Group 1 — EEG Data Acquisition &amp; Hardware Integration</a:t>
            </a:r>
            <a:endParaRPr sz="2800"/>
          </a:p>
        </p:txBody>
      </p:sp>
      <p:sp>
        <p:nvSpPr>
          <p:cNvPr id="138" name="Google Shape;138;p13"/>
          <p:cNvSpPr txBox="1"/>
          <p:nvPr>
            <p:ph idx="1" type="body"/>
          </p:nvPr>
        </p:nvSpPr>
        <p:spPr>
          <a:xfrm>
            <a:off x="812800" y="1620499"/>
            <a:ext cx="10566300" cy="4879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400">
                <a:solidFill>
                  <a:srgbClr val="000000"/>
                </a:solidFill>
                <a:latin typeface="Arial"/>
                <a:ea typeface="Arial"/>
                <a:cs typeface="Arial"/>
                <a:sym typeface="Arial"/>
              </a:rPr>
              <a:t>Goal:</a:t>
            </a:r>
            <a:r>
              <a:rPr lang="en-US" sz="1400">
                <a:solidFill>
                  <a:srgbClr val="000000"/>
                </a:solidFill>
                <a:latin typeface="Arial"/>
                <a:ea typeface="Arial"/>
                <a:cs typeface="Arial"/>
                <a:sym typeface="Arial"/>
              </a:rPr>
              <a:t> Establish a reliable pipeline for obtaining EEG data in Python.</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Understand the Ultracortex Mark IV, electrode positions, and Cyton + Daisy board.</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Learn how to use BrainFlow to stream raw EEG into Python.</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Understand the 16-channel, 125 Hz data format.</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how to stream data from two headsets simultaneously, including board/dongle requirements and interference.</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Develop a system for buffering incoming EEG into rolling windows.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recording, timestamping, and replaying EEG data for testing.</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Determine how to detect headset disconnections and dropped samples.</a:t>
            </a:r>
            <a:endParaRPr sz="14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400">
                <a:solidFill>
                  <a:srgbClr val="000000"/>
                </a:solidFill>
                <a:latin typeface="Arial"/>
                <a:ea typeface="Arial"/>
                <a:cs typeface="Arial"/>
                <a:sym typeface="Arial"/>
              </a:rPr>
              <a:t>Initial deliverable:</a:t>
            </a:r>
            <a:r>
              <a:rPr lang="en-US" sz="1400">
                <a:solidFill>
                  <a:srgbClr val="000000"/>
                </a:solidFill>
                <a:latin typeface="Arial"/>
                <a:ea typeface="Arial"/>
                <a:cs typeface="Arial"/>
                <a:sym typeface="Arial"/>
              </a:rPr>
              <a:t> A Python script that streams or replays EEG data, displays basic signal information, and saves recordings for other groups.</a:t>
            </a:r>
            <a:endParaRPr sz="14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400">
                <a:solidFill>
                  <a:srgbClr val="000000"/>
                </a:solidFill>
                <a:latin typeface="Arial"/>
                <a:ea typeface="Arial"/>
                <a:cs typeface="Arial"/>
                <a:sym typeface="Arial"/>
              </a:rPr>
              <a:t>Starting resources: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OpenBCI Cyton + Daisy documentation (https://docs.openbci.com/Cyton/CytonSDK/)</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BrainFlow supported boards (https://brainflow.readthedocs.io/en/stable/SupportedBoards.html)</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800"/>
              </a:spcAft>
              <a:buClr>
                <a:srgbClr val="000000"/>
              </a:buClr>
              <a:buSzPts val="1400"/>
              <a:buChar char="•"/>
            </a:pPr>
            <a:r>
              <a:rPr lang="en-US" sz="1400">
                <a:solidFill>
                  <a:srgbClr val="000000"/>
                </a:solidFill>
                <a:latin typeface="Arial"/>
                <a:ea typeface="Arial"/>
                <a:cs typeface="Arial"/>
                <a:sym typeface="Arial"/>
              </a:rPr>
              <a:t>BrainFlow Python examples (https://brainflow.readthedocs.io/en/stable/Examples.html)</a:t>
            </a:r>
            <a:endParaRPr b="1" sz="14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812800" y="812800"/>
            <a:ext cx="10566300" cy="5028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sz="2800"/>
              <a:t>Group 2 — Signal Processing &amp; Focus Index</a:t>
            </a:r>
            <a:endParaRPr b="1" sz="2800"/>
          </a:p>
        </p:txBody>
      </p:sp>
      <p:sp>
        <p:nvSpPr>
          <p:cNvPr id="144" name="Google Shape;144;p14"/>
          <p:cNvSpPr txBox="1"/>
          <p:nvPr>
            <p:ph idx="1" type="body"/>
          </p:nvPr>
        </p:nvSpPr>
        <p:spPr>
          <a:xfrm>
            <a:off x="812800" y="1620507"/>
            <a:ext cx="10566300" cy="4424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400">
                <a:solidFill>
                  <a:srgbClr val="000000"/>
                </a:solidFill>
                <a:latin typeface="Arial"/>
                <a:ea typeface="Arial"/>
                <a:cs typeface="Arial"/>
                <a:sym typeface="Arial"/>
              </a:rPr>
              <a:t>Goal:</a:t>
            </a:r>
            <a:r>
              <a:rPr lang="en-US" sz="1400">
                <a:solidFill>
                  <a:srgbClr val="000000"/>
                </a:solidFill>
                <a:latin typeface="Arial"/>
                <a:ea typeface="Arial"/>
                <a:cs typeface="Arial"/>
                <a:sym typeface="Arial"/>
              </a:rPr>
              <a:t> Determine how to estimate player focus directly from EEG recordings.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Understand EEG frequency bands, particularly theta, alpha, and beta.</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Research how to calculate band powers using FFT or Welch's power spectral density method.</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filtering, referencing, and which electrodes to use for focus estimation.</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Research EEG engagement indices, including </a:t>
            </a:r>
            <a:r>
              <a:rPr b="1" lang="en-US" sz="1400">
                <a:solidFill>
                  <a:srgbClr val="000000"/>
                </a:solidFill>
                <a:latin typeface="Arial"/>
                <a:ea typeface="Arial"/>
                <a:cs typeface="Arial"/>
                <a:sym typeface="Arial"/>
              </a:rPr>
              <a:t>beta / (alpha + theta)</a:t>
            </a:r>
            <a:r>
              <a:rPr lang="en-U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Compare different methods of calculating a focus index, including BrainFlow's built-in concentration metric.</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calibration and normalization so players with different EEG baselines can compete fairly.</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Experiment with different window sizes and smoothing techniques.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Define experiments to evaluate whether the focus index responds consistently to different cognitive tasks.</a:t>
            </a:r>
            <a:endParaRPr sz="14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400">
                <a:solidFill>
                  <a:srgbClr val="000000"/>
                </a:solidFill>
                <a:latin typeface="Arial"/>
                <a:ea typeface="Arial"/>
                <a:cs typeface="Arial"/>
                <a:sym typeface="Arial"/>
              </a:rPr>
              <a:t>Initial deliverable:</a:t>
            </a:r>
            <a:r>
              <a:rPr lang="en-US" sz="1400">
                <a:solidFill>
                  <a:srgbClr val="000000"/>
                </a:solidFill>
                <a:latin typeface="Arial"/>
                <a:ea typeface="Arial"/>
                <a:cs typeface="Arial"/>
                <a:sym typeface="Arial"/>
              </a:rPr>
              <a:t> A function that takes an EEG window and returns a focus estimate, plus an explanation of the chosen method and its limitations.</a:t>
            </a:r>
            <a:endParaRPr sz="14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400">
                <a:solidFill>
                  <a:srgbClr val="000000"/>
                </a:solidFill>
                <a:latin typeface="Arial"/>
                <a:ea typeface="Arial"/>
                <a:cs typeface="Arial"/>
                <a:sym typeface="Arial"/>
              </a:rPr>
              <a:t>Starting resources: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OpenBCI Band Power and Focus widgets (https://docs.openbci.com/Software/OpenBCISoftware/GUIWidgets/)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BrainFlow signal-processing examples (https://brainflow.readthedocs.io/en/stable/Examples.html)</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800"/>
              </a:spcAft>
              <a:buClr>
                <a:srgbClr val="000000"/>
              </a:buClr>
              <a:buSzPts val="1400"/>
              <a:buChar char="•"/>
            </a:pPr>
            <a:r>
              <a:rPr lang="en-US" sz="1400">
                <a:solidFill>
                  <a:srgbClr val="000000"/>
                </a:solidFill>
                <a:latin typeface="Arial"/>
                <a:ea typeface="Arial"/>
                <a:cs typeface="Arial"/>
                <a:sym typeface="Arial"/>
              </a:rPr>
              <a:t>MNE-Python documentation (https://mne.tools/stable/auto_tutorials/preprocessing/index.html)</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598750" y="812800"/>
            <a:ext cx="10566300" cy="5028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sz="2800"/>
              <a:t>Group 3 — Artifact Detection &amp; EEG Cleaning</a:t>
            </a:r>
            <a:endParaRPr b="1" sz="2800"/>
          </a:p>
        </p:txBody>
      </p:sp>
      <p:sp>
        <p:nvSpPr>
          <p:cNvPr id="150" name="Google Shape;150;p15"/>
          <p:cNvSpPr txBox="1"/>
          <p:nvPr>
            <p:ph idx="1" type="body"/>
          </p:nvPr>
        </p:nvSpPr>
        <p:spPr>
          <a:xfrm>
            <a:off x="812800" y="1620507"/>
            <a:ext cx="10566300" cy="4424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400">
                <a:solidFill>
                  <a:srgbClr val="000000"/>
                </a:solidFill>
                <a:latin typeface="Arial"/>
                <a:ea typeface="Arial"/>
                <a:cs typeface="Arial"/>
                <a:sym typeface="Arial"/>
              </a:rPr>
              <a:t>Goal:</a:t>
            </a:r>
            <a:r>
              <a:rPr lang="en-US" sz="1400">
                <a:solidFill>
                  <a:srgbClr val="000000"/>
                </a:solidFill>
                <a:latin typeface="Arial"/>
                <a:ea typeface="Arial"/>
                <a:cs typeface="Arial"/>
                <a:sym typeface="Arial"/>
              </a:rPr>
              <a:t> Prevent muscle movements, eye blinks, and noisy electrodes from affecting the game.</a:t>
            </a:r>
            <a:endParaRPr b="1" sz="1700">
              <a:solidFill>
                <a:srgbClr val="4A6C8C"/>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Understand common EEG artifacts, especially EMG (muscle activity) and EOG (eye movements).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how jaw clenching, blinking, and head movement affect beta-band power and focus estimates.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Research simple artifact-detection techniques using amplitude, variance, and other signal characteristics.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Artifact Subspace Reconstruction (ASR).</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Investigate ICA and pretrained artifact classifiers such as ICLabel.</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Evaluate whether artifact-removal methods are suitable for real-time processing at 125 Hz</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Compare rejecting contaminated windows against attempting to reconstruct clean signals.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Define a signal-quality indicator that other components can use to pause scoring when necessary.</a:t>
            </a:r>
            <a:endParaRPr sz="14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400">
                <a:solidFill>
                  <a:srgbClr val="000000"/>
                </a:solidFill>
                <a:latin typeface="Arial"/>
                <a:ea typeface="Arial"/>
                <a:cs typeface="Arial"/>
                <a:sym typeface="Arial"/>
              </a:rPr>
              <a:t>Initial deliverable:</a:t>
            </a:r>
            <a:r>
              <a:rPr lang="en-US" sz="1400">
                <a:solidFill>
                  <a:srgbClr val="000000"/>
                </a:solidFill>
                <a:latin typeface="Arial"/>
                <a:ea typeface="Arial"/>
                <a:cs typeface="Arial"/>
                <a:sym typeface="Arial"/>
              </a:rPr>
              <a:t> A basic artifact-detection or quality-checking function, with comparisons between clean EEG and recordings containing deliberate movements.</a:t>
            </a:r>
            <a:endParaRPr sz="14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400">
                <a:solidFill>
                  <a:srgbClr val="000000"/>
                </a:solidFill>
                <a:latin typeface="Arial"/>
                <a:ea typeface="Arial"/>
                <a:cs typeface="Arial"/>
                <a:sym typeface="Arial"/>
              </a:rPr>
              <a:t>Starting resources:</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MNE-ICALabel (https://mne.tools/mne-icalabel/stable/)</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0"/>
              </a:spcAft>
              <a:buClr>
                <a:srgbClr val="000000"/>
              </a:buClr>
              <a:buSzPts val="1400"/>
              <a:buChar char="•"/>
            </a:pPr>
            <a:r>
              <a:rPr lang="en-US" sz="1400">
                <a:solidFill>
                  <a:srgbClr val="000000"/>
                </a:solidFill>
                <a:latin typeface="Arial"/>
                <a:ea typeface="Arial"/>
                <a:cs typeface="Arial"/>
                <a:sym typeface="Arial"/>
              </a:rPr>
              <a:t>ASRpy (https://github.com/DiGyt/asrpy)</a:t>
            </a:r>
            <a:endParaRPr sz="1400">
              <a:solidFill>
                <a:srgbClr val="000000"/>
              </a:solidFill>
              <a:latin typeface="Arial"/>
              <a:ea typeface="Arial"/>
              <a:cs typeface="Arial"/>
              <a:sym typeface="Arial"/>
            </a:endParaRPr>
          </a:p>
          <a:p>
            <a:pPr indent="-317500" lvl="0" marL="457200" rtl="0" algn="l">
              <a:lnSpc>
                <a:spcPct val="115000"/>
              </a:lnSpc>
              <a:spcBef>
                <a:spcPts val="800"/>
              </a:spcBef>
              <a:spcAft>
                <a:spcPts val="800"/>
              </a:spcAft>
              <a:buClr>
                <a:srgbClr val="000000"/>
              </a:buClr>
              <a:buSzPts val="1400"/>
              <a:buChar char="•"/>
            </a:pPr>
            <a:r>
              <a:rPr lang="en-US" sz="1400">
                <a:solidFill>
                  <a:srgbClr val="000000"/>
                </a:solidFill>
                <a:latin typeface="Arial"/>
                <a:ea typeface="Arial"/>
                <a:cs typeface="Arial"/>
                <a:sym typeface="Arial"/>
              </a:rPr>
              <a:t>MNE preprocessing tutorials (https://mne.tools/stable/auto_tutorials/preprocessing/index.html)</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812800" y="812800"/>
            <a:ext cx="10566300" cy="502800"/>
          </a:xfrm>
          <a:prstGeom prst="rect">
            <a:avLst/>
          </a:prstGeom>
        </p:spPr>
        <p:txBody>
          <a:bodyPr anchorCtr="0" anchor="t" bIns="0" lIns="0" spcFirstLastPara="1" rIns="0" wrap="square" tIns="0">
            <a:noAutofit/>
          </a:bodyPr>
          <a:lstStyle/>
          <a:p>
            <a:pPr indent="0" lvl="0" marL="0" marR="0" rtl="0" algn="l">
              <a:lnSpc>
                <a:spcPct val="115000"/>
              </a:lnSpc>
              <a:spcBef>
                <a:spcPts val="1000"/>
              </a:spcBef>
              <a:spcAft>
                <a:spcPts val="0"/>
              </a:spcAft>
              <a:buNone/>
            </a:pPr>
            <a:r>
              <a:rPr b="1" lang="en-US" sz="2800"/>
              <a:t>Group 4 — Game Logic &amp; Scoring System</a:t>
            </a:r>
            <a:endParaRPr b="1" sz="2800"/>
          </a:p>
        </p:txBody>
      </p:sp>
      <p:sp>
        <p:nvSpPr>
          <p:cNvPr id="156" name="Google Shape;156;p16"/>
          <p:cNvSpPr txBox="1"/>
          <p:nvPr>
            <p:ph idx="1" type="body"/>
          </p:nvPr>
        </p:nvSpPr>
        <p:spPr>
          <a:xfrm>
            <a:off x="812800" y="1620507"/>
            <a:ext cx="10566300" cy="4424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500">
                <a:solidFill>
                  <a:srgbClr val="000000"/>
                </a:solidFill>
                <a:latin typeface="Arial"/>
                <a:ea typeface="Arial"/>
                <a:cs typeface="Arial"/>
                <a:sym typeface="Arial"/>
              </a:rPr>
              <a:t>Goal:</a:t>
            </a:r>
            <a:r>
              <a:rPr lang="en-US" sz="1500">
                <a:solidFill>
                  <a:srgbClr val="000000"/>
                </a:solidFill>
                <a:latin typeface="Arial"/>
                <a:ea typeface="Arial"/>
                <a:cs typeface="Arial"/>
                <a:sym typeface="Arial"/>
              </a:rPr>
              <a:t> Develop the core game mechanics independently of EEG hardware.</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Design how two players' focus estimates translate into changes in score.</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Research how to account for different individual focus baselines.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Decide how frequently scores should change and how to prevent unstable score fluctuations.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Implement continuous score tracking over time.</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Design win conditions, such as reaching a certain score advantage or sustaining a lead for a specified duration.</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Define how the game responds to unreliable EEG readings or disconnected headsets.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Build a Python simulation that generates artificial focus values to test gameplay.</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Consider how game logic can be made modular for future minigames.</a:t>
            </a:r>
            <a:endParaRPr sz="15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500">
                <a:solidFill>
                  <a:srgbClr val="000000"/>
                </a:solidFill>
                <a:latin typeface="Arial"/>
                <a:ea typeface="Arial"/>
                <a:cs typeface="Arial"/>
                <a:sym typeface="Arial"/>
              </a:rPr>
              <a:t>Initial deliverable:</a:t>
            </a:r>
            <a:r>
              <a:rPr lang="en-US" sz="1500">
                <a:solidFill>
                  <a:srgbClr val="000000"/>
                </a:solidFill>
                <a:latin typeface="Arial"/>
                <a:ea typeface="Arial"/>
                <a:cs typeface="Arial"/>
                <a:sym typeface="Arial"/>
              </a:rPr>
              <a:t> A working Python game engine that accepts two simulated focus values, updates the game state, and detects a winner.</a:t>
            </a:r>
            <a:endParaRPr sz="15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500">
                <a:solidFill>
                  <a:srgbClr val="000000"/>
                </a:solidFill>
                <a:latin typeface="Arial"/>
                <a:ea typeface="Arial"/>
                <a:cs typeface="Arial"/>
                <a:sym typeface="Arial"/>
              </a:rPr>
              <a:t>Starting resources: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Python dataclasses (https://docs.python.org/3/library/dataclasses.html)</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800"/>
              </a:spcAft>
              <a:buClr>
                <a:srgbClr val="000000"/>
              </a:buClr>
              <a:buSzPts val="1500"/>
              <a:buChar char="•"/>
            </a:pPr>
            <a:r>
              <a:rPr lang="en-US" sz="1500">
                <a:solidFill>
                  <a:srgbClr val="000000"/>
                </a:solidFill>
                <a:latin typeface="Arial"/>
                <a:ea typeface="Arial"/>
                <a:cs typeface="Arial"/>
                <a:sym typeface="Arial"/>
              </a:rPr>
              <a:t>Python unittest (https://docs.python.org/3/library/unittest.html)</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277700" y="930525"/>
            <a:ext cx="10566300" cy="5028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sz="2800"/>
              <a:t>Group 5 — Arduino Communication &amp; LED Display</a:t>
            </a:r>
            <a:endParaRPr b="1" sz="2800"/>
          </a:p>
        </p:txBody>
      </p:sp>
      <p:sp>
        <p:nvSpPr>
          <p:cNvPr id="162" name="Google Shape;162;p17"/>
          <p:cNvSpPr txBox="1"/>
          <p:nvPr>
            <p:ph idx="1" type="body"/>
          </p:nvPr>
        </p:nvSpPr>
        <p:spPr>
          <a:xfrm>
            <a:off x="812800" y="1620507"/>
            <a:ext cx="10566300" cy="4424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500">
                <a:solidFill>
                  <a:srgbClr val="000000"/>
                </a:solidFill>
                <a:latin typeface="Arial"/>
                <a:ea typeface="Arial"/>
                <a:cs typeface="Arial"/>
                <a:sym typeface="Arial"/>
              </a:rPr>
              <a:t>Goal:</a:t>
            </a:r>
            <a:r>
              <a:rPr lang="en-US" sz="1500">
                <a:solidFill>
                  <a:srgbClr val="000000"/>
                </a:solidFill>
                <a:latin typeface="Arial"/>
                <a:ea typeface="Arial"/>
                <a:cs typeface="Arial"/>
                <a:sym typeface="Arial"/>
              </a:rPr>
              <a:t> Translate the current game state into a physical LED display.</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Understand how Python communicates with an Arduino over USB serial.</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Investigate PySerial and how to send score updates.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Research possible LED layouts for representing the competition.</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Determine the commands and data format needed between Python and Arduino.</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Implement different LED states for scoring, game start, winner announcement, and errors.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Experiment with smooth LED transitions and animations.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Investigate how to recover from interrupted serial communication.</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 Design the interface so different minigames can reuse the display.</a:t>
            </a:r>
            <a:endParaRPr sz="15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500">
                <a:solidFill>
                  <a:srgbClr val="000000"/>
                </a:solidFill>
                <a:latin typeface="Arial"/>
                <a:ea typeface="Arial"/>
                <a:cs typeface="Arial"/>
                <a:sym typeface="Arial"/>
              </a:rPr>
              <a:t>Initial deliverable:</a:t>
            </a:r>
            <a:r>
              <a:rPr lang="en-US" sz="1500">
                <a:solidFill>
                  <a:srgbClr val="000000"/>
                </a:solidFill>
                <a:latin typeface="Arial"/>
                <a:ea typeface="Arial"/>
                <a:cs typeface="Arial"/>
                <a:sym typeface="Arial"/>
              </a:rPr>
              <a:t> An Arduino display controlled by simulated score updates from Python.</a:t>
            </a:r>
            <a:endParaRPr sz="15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500">
                <a:solidFill>
                  <a:srgbClr val="000000"/>
                </a:solidFill>
                <a:latin typeface="Arial"/>
                <a:ea typeface="Arial"/>
                <a:cs typeface="Arial"/>
                <a:sym typeface="Arial"/>
              </a:rPr>
              <a:t>Starting resources:</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PySerial documentation (https://pyserial.readthedocs.io/en/latest/)</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0"/>
              </a:spcAft>
              <a:buClr>
                <a:srgbClr val="000000"/>
              </a:buClr>
              <a:buSzPts val="1500"/>
              <a:buChar char="•"/>
            </a:pPr>
            <a:r>
              <a:rPr lang="en-US" sz="1500">
                <a:solidFill>
                  <a:srgbClr val="000000"/>
                </a:solidFill>
                <a:latin typeface="Arial"/>
                <a:ea typeface="Arial"/>
                <a:cs typeface="Arial"/>
                <a:sym typeface="Arial"/>
              </a:rPr>
              <a:t>PySerial short introduction (https://pyserial.readthedocs.io/en/latest/shortintro.html)</a:t>
            </a:r>
            <a:endParaRPr sz="1500">
              <a:solidFill>
                <a:srgbClr val="000000"/>
              </a:solidFill>
              <a:latin typeface="Arial"/>
              <a:ea typeface="Arial"/>
              <a:cs typeface="Arial"/>
              <a:sym typeface="Arial"/>
            </a:endParaRPr>
          </a:p>
          <a:p>
            <a:pPr indent="-323850" lvl="0" marL="457200" rtl="0" algn="l">
              <a:lnSpc>
                <a:spcPct val="115000"/>
              </a:lnSpc>
              <a:spcBef>
                <a:spcPts val="800"/>
              </a:spcBef>
              <a:spcAft>
                <a:spcPts val="800"/>
              </a:spcAft>
              <a:buClr>
                <a:srgbClr val="000000"/>
              </a:buClr>
              <a:buSzPts val="1500"/>
              <a:buChar char="•"/>
            </a:pPr>
            <a:r>
              <a:rPr lang="en-US" sz="1500">
                <a:solidFill>
                  <a:srgbClr val="000000"/>
                </a:solidFill>
                <a:latin typeface="Arial"/>
                <a:ea typeface="Arial"/>
                <a:cs typeface="Arial"/>
                <a:sym typeface="Arial"/>
              </a:rPr>
              <a:t>Arduino documentation (https://docs.arduino.cc/)</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525475" y="822375"/>
            <a:ext cx="11325000" cy="502800"/>
          </a:xfrm>
          <a:prstGeom prst="rect">
            <a:avLst/>
          </a:prstGeom>
        </p:spPr>
        <p:txBody>
          <a:bodyPr anchorCtr="0" anchor="t" bIns="0" lIns="0" spcFirstLastPara="1" rIns="0" wrap="square" tIns="0">
            <a:noAutofit/>
          </a:bodyPr>
          <a:lstStyle/>
          <a:p>
            <a:pPr indent="0" lvl="0" marL="0" rtl="0" algn="l">
              <a:lnSpc>
                <a:spcPct val="115000"/>
              </a:lnSpc>
              <a:spcBef>
                <a:spcPts val="1000"/>
              </a:spcBef>
              <a:spcAft>
                <a:spcPts val="0"/>
              </a:spcAft>
              <a:buNone/>
            </a:pPr>
            <a:r>
              <a:rPr b="1" lang="en-US" sz="2800"/>
              <a:t>Group 6 (Optional) — Pretrained EEG Models &amp; Future ML Research</a:t>
            </a:r>
            <a:endParaRPr b="1" sz="2800"/>
          </a:p>
        </p:txBody>
      </p:sp>
      <p:sp>
        <p:nvSpPr>
          <p:cNvPr id="168" name="Google Shape;168;p18"/>
          <p:cNvSpPr txBox="1"/>
          <p:nvPr>
            <p:ph idx="1" type="body"/>
          </p:nvPr>
        </p:nvSpPr>
        <p:spPr>
          <a:xfrm>
            <a:off x="812850" y="1400224"/>
            <a:ext cx="10566300" cy="5367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100">
                <a:solidFill>
                  <a:srgbClr val="000000"/>
                </a:solidFill>
                <a:latin typeface="Arial"/>
                <a:ea typeface="Arial"/>
                <a:cs typeface="Arial"/>
                <a:sym typeface="Arial"/>
              </a:rPr>
              <a:t>Goal:</a:t>
            </a:r>
            <a:r>
              <a:rPr lang="en-US" sz="1100">
                <a:solidFill>
                  <a:srgbClr val="000000"/>
                </a:solidFill>
                <a:latin typeface="Arial"/>
                <a:ea typeface="Arial"/>
                <a:cs typeface="Arial"/>
                <a:sym typeface="Arial"/>
              </a:rPr>
              <a:t> Investigate whether pretrained EEG models could improve our current focus estimation and support future minigames.</a:t>
            </a:r>
            <a:endParaRPr sz="11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lang="en-US" sz="1100">
                <a:solidFill>
                  <a:srgbClr val="000000"/>
                </a:solidFill>
                <a:latin typeface="Arial"/>
                <a:ea typeface="Arial"/>
                <a:cs typeface="Arial"/>
                <a:sym typeface="Arial"/>
              </a:rPr>
              <a:t>This group is more exploratory and is not required for the first working prototype.</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Research general-purpose EEG foundation models, primarily CBraMod and REVE.</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Understand what representations these models produce and how to use them for downstream predictions.</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Investigate how to adapt pretrained models to our 16-channel OpenBCI configuration.</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Research resampling our 125 Hz EEG recordings to the 200 Hz inputs expected by these models.</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Investigate whether pretrained models can estimate focus without extensive additional training.</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Research available datasets for attention, relaxation, cognitive workload, and motor imagery.</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Investigate how to train lightweight task-specific prediction heads on top of a shared EEG encoder.</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Benchmark memory usage and inference latency on available hardware.</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Compare pretrained-model approaches against the simpler band-power baseline.</a:t>
            </a:r>
            <a:endParaRPr sz="11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100">
                <a:solidFill>
                  <a:srgbClr val="000000"/>
                </a:solidFill>
                <a:latin typeface="Arial"/>
                <a:ea typeface="Arial"/>
                <a:cs typeface="Arial"/>
                <a:sym typeface="Arial"/>
              </a:rPr>
              <a:t>Initial deliverable:</a:t>
            </a:r>
            <a:r>
              <a:rPr lang="en-US" sz="1100">
                <a:solidFill>
                  <a:srgbClr val="000000"/>
                </a:solidFill>
                <a:latin typeface="Arial"/>
                <a:ea typeface="Arial"/>
                <a:cs typeface="Arial"/>
                <a:sym typeface="Arial"/>
              </a:rPr>
              <a:t> A comparison of promising models, their inputs and outputs, hardware requirements, and how we could adapt them to Mind Games. A small inference demo would be valuable if feasible.</a:t>
            </a:r>
            <a:endParaRPr sz="11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US" sz="1100">
                <a:solidFill>
                  <a:srgbClr val="000000"/>
                </a:solidFill>
                <a:latin typeface="Arial"/>
                <a:ea typeface="Arial"/>
                <a:cs typeface="Arial"/>
                <a:sym typeface="Arial"/>
              </a:rPr>
              <a:t>Starting resources:</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CBraMod GitHub (https://github.com/wjq-learning/CBraMod)</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REVE project (https://brain-bzh.github.io/reve/)</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0"/>
              </a:spcAft>
              <a:buClr>
                <a:srgbClr val="000000"/>
              </a:buClr>
              <a:buSzPts val="1100"/>
              <a:buChar char="•"/>
            </a:pPr>
            <a:r>
              <a:rPr lang="en-US" sz="1100">
                <a:solidFill>
                  <a:srgbClr val="000000"/>
                </a:solidFill>
                <a:latin typeface="Arial"/>
                <a:ea typeface="Arial"/>
                <a:cs typeface="Arial"/>
                <a:sym typeface="Arial"/>
              </a:rPr>
              <a:t>Braindecode (https://braindecode.org/stable/)</a:t>
            </a:r>
            <a:endParaRPr sz="1100">
              <a:solidFill>
                <a:srgbClr val="000000"/>
              </a:solidFill>
              <a:latin typeface="Arial"/>
              <a:ea typeface="Arial"/>
              <a:cs typeface="Arial"/>
              <a:sym typeface="Arial"/>
            </a:endParaRPr>
          </a:p>
          <a:p>
            <a:pPr indent="-298450" lvl="0" marL="457200" rtl="0" algn="l">
              <a:lnSpc>
                <a:spcPct val="115000"/>
              </a:lnSpc>
              <a:spcBef>
                <a:spcPts val="800"/>
              </a:spcBef>
              <a:spcAft>
                <a:spcPts val="800"/>
              </a:spcAft>
              <a:buClr>
                <a:srgbClr val="000000"/>
              </a:buClr>
              <a:buSzPts val="1100"/>
              <a:buChar char="•"/>
            </a:pPr>
            <a:r>
              <a:rPr lang="en-US" sz="1100">
                <a:solidFill>
                  <a:srgbClr val="000000"/>
                </a:solidFill>
                <a:latin typeface="Arial"/>
                <a:ea typeface="Arial"/>
                <a:cs typeface="Arial"/>
                <a:sym typeface="Arial"/>
              </a:rPr>
              <a:t>MOABB — EEG benchmark datasets (https://moabb.neurotechx.com/)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73" name="Shape 173"/>
        <p:cNvGrpSpPr/>
        <p:nvPr/>
      </p:nvGrpSpPr>
      <p:grpSpPr>
        <a:xfrm>
          <a:off x="0" y="0"/>
          <a:ext cx="0" cy="0"/>
          <a:chOff x="0" y="0"/>
          <a:chExt cx="0" cy="0"/>
        </a:xfrm>
      </p:grpSpPr>
      <p:sp>
        <p:nvSpPr>
          <p:cNvPr id="174" name="Google Shape;174;p19"/>
          <p:cNvSpPr txBox="1"/>
          <p:nvPr>
            <p:ph type="title"/>
          </p:nvPr>
        </p:nvSpPr>
        <p:spPr>
          <a:xfrm>
            <a:off x="812800" y="812800"/>
            <a:ext cx="10883400" cy="528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6F5F1"/>
              </a:buClr>
              <a:buSzPct val="100000"/>
              <a:buFont typeface="Space Grotesk"/>
              <a:buNone/>
            </a:pPr>
            <a:r>
              <a:rPr b="1" lang="en-US">
                <a:solidFill>
                  <a:srgbClr val="F6F5F1"/>
                </a:solidFill>
              </a:rPr>
              <a:t>Where our project will be hosted</a:t>
            </a:r>
            <a:endParaRPr sz="3600"/>
          </a:p>
        </p:txBody>
      </p:sp>
      <p:sp>
        <p:nvSpPr>
          <p:cNvPr id="175" name="Google Shape;175;p19"/>
          <p:cNvSpPr/>
          <p:nvPr/>
        </p:nvSpPr>
        <p:spPr>
          <a:xfrm>
            <a:off x="3063475" y="1644975"/>
            <a:ext cx="4641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1</a:t>
            </a:r>
            <a:endParaRPr sz="6000">
              <a:solidFill>
                <a:schemeClr val="dk1"/>
              </a:solidFill>
              <a:latin typeface="DM Sans"/>
              <a:ea typeface="DM Sans"/>
              <a:cs typeface="DM Sans"/>
              <a:sym typeface="DM Sans"/>
            </a:endParaRPr>
          </a:p>
        </p:txBody>
      </p:sp>
      <p:sp>
        <p:nvSpPr>
          <p:cNvPr id="176" name="Google Shape;176;p19"/>
          <p:cNvSpPr/>
          <p:nvPr/>
        </p:nvSpPr>
        <p:spPr>
          <a:xfrm>
            <a:off x="549100" y="2508500"/>
            <a:ext cx="5746500" cy="1252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We will  host all of our information on our github repo (this just means project page) </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b="1"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b="1" sz="2200">
              <a:solidFill>
                <a:srgbClr val="F6F5F1"/>
              </a:solidFill>
              <a:latin typeface="Space Grotesk"/>
              <a:ea typeface="Space Grotesk"/>
              <a:cs typeface="Space Grotesk"/>
              <a:sym typeface="Space Grotesk"/>
            </a:endParaRPr>
          </a:p>
        </p:txBody>
      </p:sp>
      <p:sp>
        <p:nvSpPr>
          <p:cNvPr id="177" name="Google Shape;177;p19"/>
          <p:cNvSpPr/>
          <p:nvPr/>
        </p:nvSpPr>
        <p:spPr>
          <a:xfrm>
            <a:off x="7817332" y="1644975"/>
            <a:ext cx="62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2</a:t>
            </a:r>
            <a:endParaRPr sz="6000">
              <a:solidFill>
                <a:schemeClr val="dk1"/>
              </a:solidFill>
              <a:latin typeface="DM Sans"/>
              <a:ea typeface="DM Sans"/>
              <a:cs typeface="DM Sans"/>
              <a:sym typeface="DM Sans"/>
            </a:endParaRPr>
          </a:p>
        </p:txBody>
      </p:sp>
      <p:sp>
        <p:nvSpPr>
          <p:cNvPr id="178" name="Google Shape;178;p19"/>
          <p:cNvSpPr/>
          <p:nvPr/>
        </p:nvSpPr>
        <p:spPr>
          <a:xfrm>
            <a:off x="6687200" y="2508499"/>
            <a:ext cx="4923900" cy="189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Required Software:</a:t>
            </a:r>
            <a:endParaRPr sz="2200">
              <a:solidFill>
                <a:srgbClr val="F6F5F1"/>
              </a:solidFill>
              <a:latin typeface="Space Grotesk"/>
              <a:ea typeface="Space Grotesk"/>
              <a:cs typeface="Space Grotesk"/>
              <a:sym typeface="Space Grotesk"/>
            </a:endParaRPr>
          </a:p>
          <a:p>
            <a:pPr indent="-368300" lvl="0" marL="457200" marR="0" rtl="0" algn="l">
              <a:lnSpc>
                <a:spcPct val="120000"/>
              </a:lnSpc>
              <a:spcBef>
                <a:spcPts val="0"/>
              </a:spcBef>
              <a:spcAft>
                <a:spcPts val="0"/>
              </a:spcAft>
              <a:buClr>
                <a:srgbClr val="F6F5F1"/>
              </a:buClr>
              <a:buSzPts val="2200"/>
              <a:buFont typeface="Space Grotesk"/>
              <a:buChar char="●"/>
            </a:pPr>
            <a:r>
              <a:rPr lang="en-US" sz="2200">
                <a:solidFill>
                  <a:srgbClr val="F6F5F1"/>
                </a:solidFill>
                <a:latin typeface="Space Grotesk"/>
                <a:ea typeface="Space Grotesk"/>
                <a:cs typeface="Space Grotesk"/>
                <a:sym typeface="Space Grotesk"/>
              </a:rPr>
              <a:t>Python</a:t>
            </a:r>
            <a:endParaRPr sz="2200">
              <a:solidFill>
                <a:srgbClr val="F6F5F1"/>
              </a:solidFill>
              <a:latin typeface="Space Grotesk"/>
              <a:ea typeface="Space Grotesk"/>
              <a:cs typeface="Space Grotesk"/>
              <a:sym typeface="Space Grotesk"/>
            </a:endParaRPr>
          </a:p>
          <a:p>
            <a:pPr indent="-368300" lvl="0" marL="457200" marR="0" rtl="0" algn="l">
              <a:lnSpc>
                <a:spcPct val="120000"/>
              </a:lnSpc>
              <a:spcBef>
                <a:spcPts val="0"/>
              </a:spcBef>
              <a:spcAft>
                <a:spcPts val="0"/>
              </a:spcAft>
              <a:buClr>
                <a:srgbClr val="F6F5F1"/>
              </a:buClr>
              <a:buSzPts val="2200"/>
              <a:buFont typeface="Space Grotesk"/>
              <a:buChar char="●"/>
            </a:pPr>
            <a:r>
              <a:rPr lang="en-US" sz="2200">
                <a:solidFill>
                  <a:srgbClr val="F6F5F1"/>
                </a:solidFill>
                <a:latin typeface="Space Grotesk"/>
                <a:ea typeface="Space Grotesk"/>
                <a:cs typeface="Space Grotesk"/>
                <a:sym typeface="Space Grotesk"/>
              </a:rPr>
              <a:t>Git</a:t>
            </a:r>
            <a:endParaRPr sz="2200">
              <a:solidFill>
                <a:srgbClr val="F6F5F1"/>
              </a:solidFill>
              <a:latin typeface="Space Grotesk"/>
              <a:ea typeface="Space Grotesk"/>
              <a:cs typeface="Space Grotesk"/>
              <a:sym typeface="Space Grotesk"/>
            </a:endParaRPr>
          </a:p>
          <a:p>
            <a:pPr indent="-368300" lvl="0" marL="457200" marR="0" rtl="0" algn="l">
              <a:lnSpc>
                <a:spcPct val="120000"/>
              </a:lnSpc>
              <a:spcBef>
                <a:spcPts val="0"/>
              </a:spcBef>
              <a:spcAft>
                <a:spcPts val="0"/>
              </a:spcAft>
              <a:buClr>
                <a:srgbClr val="F6F5F1"/>
              </a:buClr>
              <a:buSzPts val="2200"/>
              <a:buFont typeface="Space Grotesk"/>
              <a:buChar char="●"/>
            </a:pPr>
            <a:r>
              <a:rPr lang="en-US" sz="2200">
                <a:solidFill>
                  <a:srgbClr val="F6F5F1"/>
                </a:solidFill>
                <a:latin typeface="Space Grotesk"/>
                <a:ea typeface="Space Grotesk"/>
                <a:cs typeface="Space Grotesk"/>
                <a:sym typeface="Space Grotesk"/>
              </a:rPr>
              <a:t>VSCode</a:t>
            </a:r>
            <a:endParaRPr sz="2200">
              <a:solidFill>
                <a:srgbClr val="F6F5F1"/>
              </a:solidFill>
              <a:latin typeface="Space Grotesk"/>
              <a:ea typeface="Space Grotesk"/>
              <a:cs typeface="Space Grotesk"/>
              <a:sym typeface="Space Grotesk"/>
            </a:endParaRPr>
          </a:p>
        </p:txBody>
      </p:sp>
      <p:sp>
        <p:nvSpPr>
          <p:cNvPr id="179" name="Google Shape;179;p19"/>
          <p:cNvSpPr txBox="1"/>
          <p:nvPr/>
        </p:nvSpPr>
        <p:spPr>
          <a:xfrm>
            <a:off x="2273050" y="4969800"/>
            <a:ext cx="79629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US" sz="2200">
                <a:solidFill>
                  <a:schemeClr val="lt1"/>
                </a:solidFill>
                <a:latin typeface="Space Grotesk"/>
                <a:ea typeface="Space Grotesk"/>
                <a:cs typeface="Space Grotesk"/>
                <a:sym typeface="Space Grotesk"/>
              </a:rPr>
              <a:t>https://github.com/Synaptech-MindGames/Mind-Games</a:t>
            </a:r>
            <a:endParaRPr b="1" sz="2200">
              <a:solidFill>
                <a:schemeClr val="lt1"/>
              </a:solidFill>
              <a:latin typeface="Space Grotesk"/>
              <a:ea typeface="Space Grotesk"/>
              <a:cs typeface="Space Grotesk"/>
              <a:sym typeface="Space Grotes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84" name="Shape 184"/>
        <p:cNvGrpSpPr/>
        <p:nvPr/>
      </p:nvGrpSpPr>
      <p:grpSpPr>
        <a:xfrm>
          <a:off x="0" y="0"/>
          <a:ext cx="0" cy="0"/>
          <a:chOff x="0" y="0"/>
          <a:chExt cx="0" cy="0"/>
        </a:xfrm>
      </p:grpSpPr>
      <p:sp>
        <p:nvSpPr>
          <p:cNvPr id="185" name="Google Shape;185;p20"/>
          <p:cNvSpPr txBox="1"/>
          <p:nvPr>
            <p:ph type="title"/>
          </p:nvPr>
        </p:nvSpPr>
        <p:spPr>
          <a:xfrm>
            <a:off x="812800" y="812800"/>
            <a:ext cx="10883400" cy="528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6F5F1"/>
              </a:buClr>
              <a:buSzPct val="100000"/>
              <a:buFont typeface="Space Grotesk"/>
              <a:buNone/>
            </a:pPr>
            <a:r>
              <a:rPr b="1" lang="en-US">
                <a:solidFill>
                  <a:srgbClr val="F6F5F1"/>
                </a:solidFill>
              </a:rPr>
              <a:t>VSCode</a:t>
            </a:r>
            <a:endParaRPr sz="3600"/>
          </a:p>
        </p:txBody>
      </p:sp>
      <p:sp>
        <p:nvSpPr>
          <p:cNvPr id="186" name="Google Shape;186;p20"/>
          <p:cNvSpPr/>
          <p:nvPr/>
        </p:nvSpPr>
        <p:spPr>
          <a:xfrm>
            <a:off x="290525" y="1589125"/>
            <a:ext cx="9836100" cy="2704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Allows you to view the project data and use AI Agents through extensions (Claude, Codex, etc.) easily</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https://code.visualstudio.com/download</a:t>
            </a:r>
            <a:endParaRPr sz="2200">
              <a:solidFill>
                <a:srgbClr val="F6F5F1"/>
              </a:solidFill>
              <a:latin typeface="Space Grotesk"/>
              <a:ea typeface="Space Grotesk"/>
              <a:cs typeface="Space Grotesk"/>
              <a:sym typeface="Space Grotesk"/>
            </a:endParaRPr>
          </a:p>
        </p:txBody>
      </p:sp>
      <p:pic>
        <p:nvPicPr>
          <p:cNvPr id="187" name="Google Shape;187;p20" title="Capture.PNG"/>
          <p:cNvPicPr preferRelativeResize="0"/>
          <p:nvPr/>
        </p:nvPicPr>
        <p:blipFill>
          <a:blip r:embed="rId3">
            <a:alphaModFix/>
          </a:blip>
          <a:stretch>
            <a:fillRect/>
          </a:stretch>
        </p:blipFill>
        <p:spPr>
          <a:xfrm>
            <a:off x="2885950" y="3272400"/>
            <a:ext cx="6244475" cy="33661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812800" y="812800"/>
            <a:ext cx="10566300" cy="50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Git</a:t>
            </a:r>
            <a:endParaRPr/>
          </a:p>
        </p:txBody>
      </p:sp>
      <p:sp>
        <p:nvSpPr>
          <p:cNvPr id="193" name="Google Shape;193;p21"/>
          <p:cNvSpPr/>
          <p:nvPr/>
        </p:nvSpPr>
        <p:spPr>
          <a:xfrm>
            <a:off x="776350" y="2424081"/>
            <a:ext cx="3374100" cy="3501000"/>
          </a:xfrm>
          <a:prstGeom prst="roundRect">
            <a:avLst>
              <a:gd fmla="val 4257"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pic>
        <p:nvPicPr>
          <p:cNvPr descr="Users" id="194" name="Google Shape;194;p21"/>
          <p:cNvPicPr preferRelativeResize="0"/>
          <p:nvPr/>
        </p:nvPicPr>
        <p:blipFill rotWithShape="1">
          <a:blip r:embed="rId3">
            <a:alphaModFix/>
          </a:blip>
          <a:srcRect b="0" l="0" r="0" t="0"/>
          <a:stretch/>
        </p:blipFill>
        <p:spPr>
          <a:xfrm>
            <a:off x="1036688" y="2684415"/>
            <a:ext cx="355600" cy="355600"/>
          </a:xfrm>
          <a:prstGeom prst="rect">
            <a:avLst/>
          </a:prstGeom>
          <a:noFill/>
          <a:ln>
            <a:noFill/>
          </a:ln>
        </p:spPr>
      </p:pic>
      <p:sp>
        <p:nvSpPr>
          <p:cNvPr id="195" name="Google Shape;195;p21"/>
          <p:cNvSpPr/>
          <p:nvPr/>
        </p:nvSpPr>
        <p:spPr>
          <a:xfrm>
            <a:off x="1036688" y="3141615"/>
            <a:ext cx="2938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rgbClr val="14213D"/>
                </a:solidFill>
                <a:latin typeface="Space Grotesk"/>
                <a:ea typeface="Space Grotesk"/>
                <a:cs typeface="Space Grotesk"/>
                <a:sym typeface="Space Grotesk"/>
              </a:rPr>
              <a:t>Purpose</a:t>
            </a:r>
            <a:endParaRPr sz="2200">
              <a:solidFill>
                <a:schemeClr val="dk1"/>
              </a:solidFill>
              <a:latin typeface="DM Sans"/>
              <a:ea typeface="DM Sans"/>
              <a:cs typeface="DM Sans"/>
              <a:sym typeface="DM Sans"/>
            </a:endParaRPr>
          </a:p>
        </p:txBody>
      </p:sp>
      <p:sp>
        <p:nvSpPr>
          <p:cNvPr id="196" name="Google Shape;196;p21"/>
          <p:cNvSpPr/>
          <p:nvPr/>
        </p:nvSpPr>
        <p:spPr>
          <a:xfrm>
            <a:off x="1036700" y="3578461"/>
            <a:ext cx="2938800" cy="1925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Allows you to get  all recent changes from team members (git), and work within your subteams on a ‘branch’ and push all your changes onto the main branch all subteams are working based off of.</a:t>
            </a:r>
            <a:endParaRPr sz="1600">
              <a:solidFill>
                <a:schemeClr val="dk1"/>
              </a:solidFill>
              <a:latin typeface="DM Sans"/>
              <a:ea typeface="DM Sans"/>
              <a:cs typeface="DM Sans"/>
              <a:sym typeface="DM Sans"/>
            </a:endParaRPr>
          </a:p>
        </p:txBody>
      </p:sp>
      <p:sp>
        <p:nvSpPr>
          <p:cNvPr id="197" name="Google Shape;197;p21"/>
          <p:cNvSpPr/>
          <p:nvPr/>
        </p:nvSpPr>
        <p:spPr>
          <a:xfrm>
            <a:off x="4366200" y="2424081"/>
            <a:ext cx="3374100" cy="3501000"/>
          </a:xfrm>
          <a:prstGeom prst="roundRect">
            <a:avLst>
              <a:gd fmla="val 4257"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pic>
        <p:nvPicPr>
          <p:cNvPr descr="Code" id="198" name="Google Shape;198;p21"/>
          <p:cNvPicPr preferRelativeResize="0"/>
          <p:nvPr/>
        </p:nvPicPr>
        <p:blipFill rotWithShape="1">
          <a:blip r:embed="rId4">
            <a:alphaModFix/>
          </a:blip>
          <a:srcRect b="0" l="0" r="0" t="0"/>
          <a:stretch/>
        </p:blipFill>
        <p:spPr>
          <a:xfrm>
            <a:off x="4626555" y="2684415"/>
            <a:ext cx="355600" cy="355600"/>
          </a:xfrm>
          <a:prstGeom prst="rect">
            <a:avLst/>
          </a:prstGeom>
          <a:noFill/>
          <a:ln>
            <a:noFill/>
          </a:ln>
        </p:spPr>
      </p:pic>
      <p:sp>
        <p:nvSpPr>
          <p:cNvPr id="199" name="Google Shape;199;p21"/>
          <p:cNvSpPr/>
          <p:nvPr/>
        </p:nvSpPr>
        <p:spPr>
          <a:xfrm>
            <a:off x="4487650" y="3141625"/>
            <a:ext cx="31923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100">
                <a:solidFill>
                  <a:srgbClr val="14213D"/>
                </a:solidFill>
                <a:latin typeface="Space Grotesk"/>
                <a:ea typeface="Space Grotesk"/>
                <a:cs typeface="Space Grotesk"/>
                <a:sym typeface="Space Grotesk"/>
              </a:rPr>
              <a:t>PR Requests + Branches</a:t>
            </a:r>
            <a:endParaRPr sz="2100">
              <a:solidFill>
                <a:schemeClr val="dk1"/>
              </a:solidFill>
              <a:latin typeface="DM Sans"/>
              <a:ea typeface="DM Sans"/>
              <a:cs typeface="DM Sans"/>
              <a:sym typeface="DM Sans"/>
            </a:endParaRPr>
          </a:p>
        </p:txBody>
      </p:sp>
      <p:sp>
        <p:nvSpPr>
          <p:cNvPr id="200" name="Google Shape;200;p21"/>
          <p:cNvSpPr/>
          <p:nvPr/>
        </p:nvSpPr>
        <p:spPr>
          <a:xfrm>
            <a:off x="4626550" y="3578463"/>
            <a:ext cx="2938800" cy="2088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After changing/adding to a file, a ‘PR  Request’ from your teams ‘branch’ will be made. This is basically a spot where your changes will be reviewed before being added to the main repo on Github.</a:t>
            </a:r>
            <a:endParaRPr sz="1600">
              <a:solidFill>
                <a:schemeClr val="dk1"/>
              </a:solidFill>
              <a:latin typeface="DM Sans"/>
              <a:ea typeface="DM Sans"/>
              <a:cs typeface="DM Sans"/>
              <a:sym typeface="DM Sans"/>
            </a:endParaRPr>
          </a:p>
        </p:txBody>
      </p:sp>
      <p:sp>
        <p:nvSpPr>
          <p:cNvPr id="201" name="Google Shape;201;p21"/>
          <p:cNvSpPr/>
          <p:nvPr/>
        </p:nvSpPr>
        <p:spPr>
          <a:xfrm>
            <a:off x="8041450" y="2424081"/>
            <a:ext cx="3374100" cy="3501000"/>
          </a:xfrm>
          <a:prstGeom prst="roundRect">
            <a:avLst>
              <a:gd fmla="val 4257" name="adj"/>
            </a:avLst>
          </a:prstGeom>
          <a:solidFill>
            <a:srgbClr val="FDFCFA"/>
          </a:solidFill>
          <a:ln cap="flat" cmpd="sng" w="12700">
            <a:solidFill>
              <a:srgbClr val="DDE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pic>
        <p:nvPicPr>
          <p:cNvPr descr="Wrench" id="202" name="Google Shape;202;p21"/>
          <p:cNvPicPr preferRelativeResize="0"/>
          <p:nvPr/>
        </p:nvPicPr>
        <p:blipFill rotWithShape="1">
          <a:blip r:embed="rId5">
            <a:alphaModFix/>
          </a:blip>
          <a:srcRect b="0" l="0" r="0" t="0"/>
          <a:stretch/>
        </p:blipFill>
        <p:spPr>
          <a:xfrm>
            <a:off x="8301797" y="2684415"/>
            <a:ext cx="355600" cy="355600"/>
          </a:xfrm>
          <a:prstGeom prst="rect">
            <a:avLst/>
          </a:prstGeom>
          <a:noFill/>
          <a:ln>
            <a:noFill/>
          </a:ln>
        </p:spPr>
      </p:pic>
      <p:sp>
        <p:nvSpPr>
          <p:cNvPr id="203" name="Google Shape;203;p21"/>
          <p:cNvSpPr/>
          <p:nvPr/>
        </p:nvSpPr>
        <p:spPr>
          <a:xfrm>
            <a:off x="8301797" y="3141615"/>
            <a:ext cx="2938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2200"/>
              <a:buFont typeface="Space Grotesk"/>
              <a:buNone/>
            </a:pPr>
            <a:r>
              <a:rPr b="1" lang="en-US" sz="2200">
                <a:solidFill>
                  <a:schemeClr val="dk1"/>
                </a:solidFill>
                <a:latin typeface="DM Sans"/>
                <a:ea typeface="DM Sans"/>
                <a:cs typeface="DM Sans"/>
                <a:sym typeface="DM Sans"/>
              </a:rPr>
              <a:t>Download</a:t>
            </a:r>
            <a:endParaRPr b="1" sz="2200">
              <a:solidFill>
                <a:schemeClr val="dk1"/>
              </a:solidFill>
              <a:latin typeface="DM Sans"/>
              <a:ea typeface="DM Sans"/>
              <a:cs typeface="DM Sans"/>
              <a:sym typeface="DM Sans"/>
            </a:endParaRPr>
          </a:p>
        </p:txBody>
      </p:sp>
      <p:sp>
        <p:nvSpPr>
          <p:cNvPr id="204" name="Google Shape;204;p21"/>
          <p:cNvSpPr/>
          <p:nvPr/>
        </p:nvSpPr>
        <p:spPr>
          <a:xfrm>
            <a:off x="8301800" y="3578457"/>
            <a:ext cx="2938800" cy="1036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600"/>
              <a:buFont typeface="DM Sans"/>
              <a:buNone/>
            </a:pPr>
            <a:r>
              <a:rPr lang="en-US" sz="1600">
                <a:solidFill>
                  <a:srgbClr val="4A5568"/>
                </a:solidFill>
                <a:latin typeface="DM Sans"/>
                <a:ea typeface="DM Sans"/>
                <a:cs typeface="DM Sans"/>
                <a:sym typeface="DM Sans"/>
              </a:rPr>
              <a:t>https://git-scm.com/install/</a:t>
            </a:r>
            <a:endParaRPr sz="1600">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09" name="Shape 209"/>
        <p:cNvGrpSpPr/>
        <p:nvPr/>
      </p:nvGrpSpPr>
      <p:grpSpPr>
        <a:xfrm>
          <a:off x="0" y="0"/>
          <a:ext cx="0" cy="0"/>
          <a:chOff x="0" y="0"/>
          <a:chExt cx="0" cy="0"/>
        </a:xfrm>
      </p:grpSpPr>
      <p:sp>
        <p:nvSpPr>
          <p:cNvPr id="210" name="Google Shape;210;p22"/>
          <p:cNvSpPr txBox="1"/>
          <p:nvPr>
            <p:ph type="title"/>
          </p:nvPr>
        </p:nvSpPr>
        <p:spPr>
          <a:xfrm>
            <a:off x="812800" y="812800"/>
            <a:ext cx="10883400" cy="528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6F5F1"/>
              </a:buClr>
              <a:buSzPct val="100000"/>
              <a:buFont typeface="Space Grotesk"/>
              <a:buNone/>
            </a:pPr>
            <a:r>
              <a:rPr b="1" lang="en-US">
                <a:solidFill>
                  <a:srgbClr val="F6F5F1"/>
                </a:solidFill>
              </a:rPr>
              <a:t>Python</a:t>
            </a:r>
            <a:endParaRPr sz="3600"/>
          </a:p>
        </p:txBody>
      </p:sp>
      <p:sp>
        <p:nvSpPr>
          <p:cNvPr id="211" name="Google Shape;211;p22"/>
          <p:cNvSpPr/>
          <p:nvPr/>
        </p:nvSpPr>
        <p:spPr>
          <a:xfrm>
            <a:off x="290525" y="1589125"/>
            <a:ext cx="9836100" cy="2704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Allows you to run/make the program</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Easiest language to work with, and very easy for AI agents to use…</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sz="22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rPr lang="en-US" sz="2200">
                <a:solidFill>
                  <a:srgbClr val="F6F5F1"/>
                </a:solidFill>
                <a:latin typeface="Space Grotesk"/>
                <a:ea typeface="Space Grotesk"/>
                <a:cs typeface="Space Grotesk"/>
                <a:sym typeface="Space Grotesk"/>
              </a:rPr>
              <a:t>https://www.python.org/downloads/release/python-31318/</a:t>
            </a:r>
            <a:endParaRPr sz="2200">
              <a:solidFill>
                <a:srgbClr val="F6F5F1"/>
              </a:solidFill>
              <a:latin typeface="Space Grotesk"/>
              <a:ea typeface="Space Grotesk"/>
              <a:cs typeface="Space Grotesk"/>
              <a:sym typeface="Space Grotes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16" name="Shape 216"/>
        <p:cNvGrpSpPr/>
        <p:nvPr/>
      </p:nvGrpSpPr>
      <p:grpSpPr>
        <a:xfrm>
          <a:off x="0" y="0"/>
          <a:ext cx="0" cy="0"/>
          <a:chOff x="0" y="0"/>
          <a:chExt cx="0" cy="0"/>
        </a:xfrm>
      </p:grpSpPr>
      <p:sp>
        <p:nvSpPr>
          <p:cNvPr id="217" name="Google Shape;217;p23"/>
          <p:cNvSpPr txBox="1"/>
          <p:nvPr>
            <p:ph type="title"/>
          </p:nvPr>
        </p:nvSpPr>
        <p:spPr>
          <a:xfrm>
            <a:off x="793650" y="580975"/>
            <a:ext cx="10883400" cy="528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6F5F1"/>
              </a:buClr>
              <a:buSzPct val="100000"/>
              <a:buFont typeface="Space Grotesk"/>
              <a:buNone/>
            </a:pPr>
            <a:r>
              <a:rPr b="1" lang="en-US">
                <a:solidFill>
                  <a:srgbClr val="F6F5F1"/>
                </a:solidFill>
              </a:rPr>
              <a:t>AI Resources</a:t>
            </a:r>
            <a:endParaRPr sz="3600"/>
          </a:p>
        </p:txBody>
      </p:sp>
      <p:sp>
        <p:nvSpPr>
          <p:cNvPr id="218" name="Google Shape;218;p23"/>
          <p:cNvSpPr/>
          <p:nvPr/>
        </p:nvSpPr>
        <p:spPr>
          <a:xfrm>
            <a:off x="306413" y="1195872"/>
            <a:ext cx="3418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1</a:t>
            </a:r>
            <a:endParaRPr sz="6000">
              <a:solidFill>
                <a:schemeClr val="dk1"/>
              </a:solidFill>
              <a:latin typeface="DM Sans"/>
              <a:ea typeface="DM Sans"/>
              <a:cs typeface="DM Sans"/>
              <a:sym typeface="DM Sans"/>
            </a:endParaRPr>
          </a:p>
        </p:txBody>
      </p:sp>
      <p:sp>
        <p:nvSpPr>
          <p:cNvPr id="219" name="Google Shape;219;p23"/>
          <p:cNvSpPr/>
          <p:nvPr/>
        </p:nvSpPr>
        <p:spPr>
          <a:xfrm>
            <a:off x="306413" y="2048855"/>
            <a:ext cx="3754200" cy="3809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000">
                <a:solidFill>
                  <a:srgbClr val="F6F5F1"/>
                </a:solidFill>
                <a:latin typeface="Space Grotesk"/>
                <a:ea typeface="Space Grotesk"/>
                <a:cs typeface="Space Grotesk"/>
                <a:sym typeface="Space Grotesk"/>
              </a:rPr>
              <a:t>ChatGPT Plus: 4 months free for eligible U.S. college/grad students. Claim by October 31, 2026. Renews at $20/month afterward.</a:t>
            </a:r>
            <a:endParaRPr sz="20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b="1" sz="2000">
              <a:solidFill>
                <a:srgbClr val="F6F5F1"/>
              </a:solidFill>
              <a:latin typeface="Space Grotesk"/>
              <a:ea typeface="Space Grotesk"/>
              <a:cs typeface="Space Grotesk"/>
              <a:sym typeface="Space Grotesk"/>
            </a:endParaRPr>
          </a:p>
          <a:p>
            <a:pPr indent="0" lvl="0" marL="0" rtl="0" algn="l">
              <a:lnSpc>
                <a:spcPct val="120000"/>
              </a:lnSpc>
              <a:spcBef>
                <a:spcPts val="0"/>
              </a:spcBef>
              <a:spcAft>
                <a:spcPts val="0"/>
              </a:spcAft>
              <a:buClr>
                <a:schemeClr val="lt1"/>
              </a:buClr>
              <a:buSzPts val="2200"/>
              <a:buFont typeface="Space Grotesk"/>
              <a:buNone/>
            </a:pPr>
            <a:r>
              <a:rPr lang="en-US" sz="2000">
                <a:solidFill>
                  <a:schemeClr val="lt1"/>
                </a:solidFill>
                <a:latin typeface="Space Grotesk"/>
                <a:ea typeface="Space Grotesk"/>
                <a:cs typeface="Space Grotesk"/>
                <a:sym typeface="Space Grotesk"/>
              </a:rPr>
              <a:t>Tip: Put on a locked virtual credit card and use unofficial transcript/tuition statement. UW ID doesn’t work.</a:t>
            </a:r>
            <a:endParaRPr sz="2000">
              <a:solidFill>
                <a:schemeClr val="lt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b="1" sz="20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rPr b="1" lang="en-US" sz="2000">
                <a:solidFill>
                  <a:srgbClr val="F6F5F1"/>
                </a:solidFill>
                <a:latin typeface="Space Grotesk"/>
                <a:ea typeface="Space Grotesk"/>
                <a:cs typeface="Space Grotesk"/>
                <a:sym typeface="Space Grotesk"/>
              </a:rPr>
              <a:t>https://chatgpt.com/students/2026/</a:t>
            </a:r>
            <a:endParaRPr b="1" sz="2000">
              <a:solidFill>
                <a:srgbClr val="F6F5F1"/>
              </a:solidFill>
              <a:latin typeface="Space Grotesk"/>
              <a:ea typeface="Space Grotesk"/>
              <a:cs typeface="Space Grotesk"/>
              <a:sym typeface="Space Grotesk"/>
            </a:endParaRPr>
          </a:p>
        </p:txBody>
      </p:sp>
      <p:sp>
        <p:nvSpPr>
          <p:cNvPr id="220" name="Google Shape;220;p23"/>
          <p:cNvSpPr/>
          <p:nvPr/>
        </p:nvSpPr>
        <p:spPr>
          <a:xfrm>
            <a:off x="4442846" y="1185297"/>
            <a:ext cx="3418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2</a:t>
            </a:r>
            <a:endParaRPr sz="6000">
              <a:solidFill>
                <a:schemeClr val="dk1"/>
              </a:solidFill>
              <a:latin typeface="DM Sans"/>
              <a:ea typeface="DM Sans"/>
              <a:cs typeface="DM Sans"/>
              <a:sym typeface="DM Sans"/>
            </a:endParaRPr>
          </a:p>
        </p:txBody>
      </p:sp>
      <p:sp>
        <p:nvSpPr>
          <p:cNvPr id="221" name="Google Shape;221;p23"/>
          <p:cNvSpPr/>
          <p:nvPr/>
        </p:nvSpPr>
        <p:spPr>
          <a:xfrm>
            <a:off x="4442850" y="2048825"/>
            <a:ext cx="3418500" cy="4642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000">
                <a:solidFill>
                  <a:srgbClr val="F6F5F1"/>
                </a:solidFill>
                <a:latin typeface="Space Grotesk"/>
                <a:ea typeface="Space Grotesk"/>
                <a:cs typeface="Space Grotesk"/>
                <a:sym typeface="Space Grotesk"/>
              </a:rPr>
              <a:t>Google AI student offer: 12 months free. In the U.S., this is Google AI Pro; other supported regions may get a different Google AI plan. Claim by December 31, 2026.</a:t>
            </a:r>
            <a:endParaRPr sz="2000">
              <a:solidFill>
                <a:srgbClr val="F6F5F1"/>
              </a:solidFill>
              <a:latin typeface="Space Grotesk"/>
              <a:ea typeface="Space Grotesk"/>
              <a:cs typeface="Space Grotesk"/>
              <a:sym typeface="Space Grotesk"/>
            </a:endParaRPr>
          </a:p>
          <a:p>
            <a:pPr indent="0" lvl="0" marL="0" rtl="0" algn="l">
              <a:lnSpc>
                <a:spcPct val="120000"/>
              </a:lnSpc>
              <a:spcBef>
                <a:spcPts val="0"/>
              </a:spcBef>
              <a:spcAft>
                <a:spcPts val="0"/>
              </a:spcAft>
              <a:buClr>
                <a:schemeClr val="lt1"/>
              </a:buClr>
              <a:buSzPts val="2200"/>
              <a:buFont typeface="Space Grotesk"/>
              <a:buNone/>
            </a:pPr>
            <a:r>
              <a:rPr lang="en-US" sz="2000">
                <a:solidFill>
                  <a:schemeClr val="lt1"/>
                </a:solidFill>
                <a:latin typeface="Space Grotesk"/>
                <a:ea typeface="Space Grotesk"/>
                <a:cs typeface="Space Grotesk"/>
                <a:sym typeface="Space Grotesk"/>
              </a:rPr>
              <a:t>Tip: Put on a locked virtual credit card</a:t>
            </a:r>
            <a:endParaRPr sz="2000">
              <a:solidFill>
                <a:schemeClr val="lt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sz="20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rPr b="1" lang="en-US" sz="2000">
                <a:solidFill>
                  <a:srgbClr val="F6F5F1"/>
                </a:solidFill>
                <a:latin typeface="Space Grotesk"/>
                <a:ea typeface="Space Grotesk"/>
                <a:cs typeface="Space Grotesk"/>
                <a:sym typeface="Space Grotesk"/>
              </a:rPr>
              <a:t>https://gemini.google/students/</a:t>
            </a:r>
            <a:endParaRPr b="1" sz="2000">
              <a:solidFill>
                <a:srgbClr val="F6F5F1"/>
              </a:solidFill>
              <a:latin typeface="Space Grotesk"/>
              <a:ea typeface="Space Grotesk"/>
              <a:cs typeface="Space Grotesk"/>
              <a:sym typeface="Space Grotesk"/>
            </a:endParaRPr>
          </a:p>
        </p:txBody>
      </p:sp>
      <p:sp>
        <p:nvSpPr>
          <p:cNvPr id="222" name="Google Shape;222;p23"/>
          <p:cNvSpPr/>
          <p:nvPr/>
        </p:nvSpPr>
        <p:spPr>
          <a:xfrm>
            <a:off x="8066580" y="1185297"/>
            <a:ext cx="3418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3</a:t>
            </a:r>
            <a:endParaRPr sz="6000">
              <a:solidFill>
                <a:schemeClr val="dk1"/>
              </a:solidFill>
              <a:latin typeface="DM Sans"/>
              <a:ea typeface="DM Sans"/>
              <a:cs typeface="DM Sans"/>
              <a:sym typeface="DM Sans"/>
            </a:endParaRPr>
          </a:p>
        </p:txBody>
      </p:sp>
      <p:sp>
        <p:nvSpPr>
          <p:cNvPr id="223" name="Google Shape;223;p23"/>
          <p:cNvSpPr/>
          <p:nvPr/>
        </p:nvSpPr>
        <p:spPr>
          <a:xfrm>
            <a:off x="8066588" y="2048900"/>
            <a:ext cx="3819000" cy="440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lang="en-US" sz="2000">
                <a:solidFill>
                  <a:srgbClr val="F6F5F1"/>
                </a:solidFill>
                <a:latin typeface="Space Grotesk"/>
                <a:ea typeface="Space Grotesk"/>
                <a:cs typeface="Space Grotesk"/>
                <a:sym typeface="Space Grotesk"/>
              </a:rPr>
              <a:t>OpenAI Codex for Students: $100 in Codex credits for verified university students in the U.S. and Canada. Credits expire 12 months after grant</a:t>
            </a:r>
            <a:endParaRPr sz="20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sz="20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rPr b="1" lang="en-US" sz="2000">
                <a:solidFill>
                  <a:srgbClr val="F6F5F1"/>
                </a:solidFill>
                <a:latin typeface="Space Grotesk"/>
                <a:ea typeface="Space Grotesk"/>
                <a:cs typeface="Space Grotesk"/>
                <a:sym typeface="Space Grotesk"/>
              </a:rPr>
              <a:t>https://developers.openai.com/community/students</a:t>
            </a:r>
            <a:endParaRPr b="1" sz="2000">
              <a:solidFill>
                <a:srgbClr val="F6F5F1"/>
              </a:solidFill>
              <a:latin typeface="Space Grotesk"/>
              <a:ea typeface="Space Grotesk"/>
              <a:cs typeface="Space Grotesk"/>
              <a:sym typeface="Space Grotesk"/>
            </a:endParaRPr>
          </a:p>
          <a:p>
            <a:pPr indent="0" lvl="0" marL="0" marR="0" rtl="0" algn="l">
              <a:lnSpc>
                <a:spcPct val="120000"/>
              </a:lnSpc>
              <a:spcBef>
                <a:spcPts val="0"/>
              </a:spcBef>
              <a:spcAft>
                <a:spcPts val="0"/>
              </a:spcAft>
              <a:buClr>
                <a:srgbClr val="F6F5F1"/>
              </a:buClr>
              <a:buSzPts val="2200"/>
              <a:buFont typeface="Space Grotesk"/>
              <a:buNone/>
            </a:pPr>
            <a:r>
              <a:t/>
            </a:r>
            <a:endParaRPr sz="2000">
              <a:solidFill>
                <a:srgbClr val="F6F5F1"/>
              </a:solidFill>
              <a:latin typeface="Space Grotesk"/>
              <a:ea typeface="Space Grotesk"/>
              <a:cs typeface="Space Grotesk"/>
              <a:sym typeface="Space Grotes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28" name="Shape 228"/>
        <p:cNvGrpSpPr/>
        <p:nvPr/>
      </p:nvGrpSpPr>
      <p:grpSpPr>
        <a:xfrm>
          <a:off x="0" y="0"/>
          <a:ext cx="0" cy="0"/>
          <a:chOff x="0" y="0"/>
          <a:chExt cx="0" cy="0"/>
        </a:xfrm>
      </p:grpSpPr>
      <p:sp>
        <p:nvSpPr>
          <p:cNvPr id="229" name="Google Shape;229;p24"/>
          <p:cNvSpPr txBox="1"/>
          <p:nvPr>
            <p:ph type="title"/>
          </p:nvPr>
        </p:nvSpPr>
        <p:spPr>
          <a:xfrm>
            <a:off x="812800" y="812800"/>
            <a:ext cx="10883400" cy="528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6F5F1"/>
              </a:buClr>
              <a:buSzPts val="3600"/>
              <a:buFont typeface="Space Grotesk"/>
              <a:buNone/>
            </a:pPr>
            <a:r>
              <a:rPr b="1" i="0" lang="en-US" sz="3600">
                <a:solidFill>
                  <a:srgbClr val="F6F5F1"/>
                </a:solidFill>
                <a:latin typeface="Space Grotesk"/>
                <a:ea typeface="Space Grotesk"/>
                <a:cs typeface="Space Grotesk"/>
                <a:sym typeface="Space Grotesk"/>
              </a:rPr>
              <a:t>Before next week</a:t>
            </a:r>
            <a:endParaRPr sz="3600"/>
          </a:p>
        </p:txBody>
      </p:sp>
      <p:sp>
        <p:nvSpPr>
          <p:cNvPr id="230" name="Google Shape;230;p24"/>
          <p:cNvSpPr/>
          <p:nvPr/>
        </p:nvSpPr>
        <p:spPr>
          <a:xfrm>
            <a:off x="2733388" y="1547247"/>
            <a:ext cx="3418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1</a:t>
            </a:r>
            <a:endParaRPr sz="6000">
              <a:solidFill>
                <a:schemeClr val="dk1"/>
              </a:solidFill>
              <a:latin typeface="DM Sans"/>
              <a:ea typeface="DM Sans"/>
              <a:cs typeface="DM Sans"/>
              <a:sym typeface="DM Sans"/>
            </a:endParaRPr>
          </a:p>
        </p:txBody>
      </p:sp>
      <p:sp>
        <p:nvSpPr>
          <p:cNvPr id="231" name="Google Shape;231;p24"/>
          <p:cNvSpPr/>
          <p:nvPr/>
        </p:nvSpPr>
        <p:spPr>
          <a:xfrm>
            <a:off x="2733388" y="2410847"/>
            <a:ext cx="34185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b="1" lang="en-US" sz="2200">
                <a:solidFill>
                  <a:srgbClr val="F6F5F1"/>
                </a:solidFill>
                <a:latin typeface="Space Grotesk"/>
                <a:ea typeface="Space Grotesk"/>
                <a:cs typeface="Space Grotesk"/>
                <a:sym typeface="Space Grotesk"/>
              </a:rPr>
              <a:t>Fill out the groups form</a:t>
            </a:r>
            <a:endParaRPr sz="2200">
              <a:solidFill>
                <a:schemeClr val="dk1"/>
              </a:solidFill>
              <a:latin typeface="DM Sans"/>
              <a:ea typeface="DM Sans"/>
              <a:cs typeface="DM Sans"/>
              <a:sym typeface="DM Sans"/>
            </a:endParaRPr>
          </a:p>
        </p:txBody>
      </p:sp>
      <p:sp>
        <p:nvSpPr>
          <p:cNvPr id="232" name="Google Shape;232;p24"/>
          <p:cNvSpPr/>
          <p:nvPr/>
        </p:nvSpPr>
        <p:spPr>
          <a:xfrm>
            <a:off x="6357121" y="1547247"/>
            <a:ext cx="3418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C4B6"/>
              </a:buClr>
              <a:buSzPts val="6000"/>
              <a:buFont typeface="Space Grotesk"/>
              <a:buNone/>
            </a:pPr>
            <a:r>
              <a:rPr b="1" lang="en-US" sz="6000">
                <a:solidFill>
                  <a:srgbClr val="2EC4B6"/>
                </a:solidFill>
                <a:latin typeface="Space Grotesk"/>
                <a:ea typeface="Space Grotesk"/>
                <a:cs typeface="Space Grotesk"/>
                <a:sym typeface="Space Grotesk"/>
              </a:rPr>
              <a:t>2</a:t>
            </a:r>
            <a:endParaRPr sz="6000">
              <a:solidFill>
                <a:schemeClr val="dk1"/>
              </a:solidFill>
              <a:latin typeface="DM Sans"/>
              <a:ea typeface="DM Sans"/>
              <a:cs typeface="DM Sans"/>
              <a:sym typeface="DM Sans"/>
            </a:endParaRPr>
          </a:p>
        </p:txBody>
      </p:sp>
      <p:sp>
        <p:nvSpPr>
          <p:cNvPr id="233" name="Google Shape;233;p24"/>
          <p:cNvSpPr/>
          <p:nvPr/>
        </p:nvSpPr>
        <p:spPr>
          <a:xfrm>
            <a:off x="6357121" y="2410847"/>
            <a:ext cx="34185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5F1"/>
              </a:buClr>
              <a:buSzPts val="2200"/>
              <a:buFont typeface="Space Grotesk"/>
              <a:buNone/>
            </a:pPr>
            <a:r>
              <a:rPr b="1" lang="en-US" sz="2200">
                <a:solidFill>
                  <a:srgbClr val="F6F5F1"/>
                </a:solidFill>
                <a:latin typeface="Space Grotesk"/>
                <a:ea typeface="Space Grotesk"/>
                <a:cs typeface="Space Grotesk"/>
                <a:sym typeface="Space Grotesk"/>
              </a:rPr>
              <a:t>Install Python + Git</a:t>
            </a:r>
            <a:endParaRPr sz="2200">
              <a:solidFill>
                <a:schemeClr val="dk1"/>
              </a:solidFill>
              <a:latin typeface="DM Sans"/>
              <a:ea typeface="DM Sans"/>
              <a:cs typeface="DM Sans"/>
              <a:sym typeface="DM Sans"/>
            </a:endParaRPr>
          </a:p>
        </p:txBody>
      </p:sp>
      <p:pic>
        <p:nvPicPr>
          <p:cNvPr id="234" name="Google Shape;234;p24"/>
          <p:cNvPicPr preferRelativeResize="0"/>
          <p:nvPr/>
        </p:nvPicPr>
        <p:blipFill>
          <a:blip r:embed="rId3">
            <a:alphaModFix/>
          </a:blip>
          <a:stretch>
            <a:fillRect/>
          </a:stretch>
        </p:blipFill>
        <p:spPr>
          <a:xfrm>
            <a:off x="4476463" y="2977586"/>
            <a:ext cx="3556064" cy="35560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indball Kickoff">
  <a:themeElements>
    <a:clrScheme name="Mindball Kickoff">
      <a:dk1>
        <a:srgbClr val="14213D"/>
      </a:dk1>
      <a:lt1>
        <a:srgbClr val="F6F5F1"/>
      </a:lt1>
      <a:dk2>
        <a:srgbClr val="4D566A"/>
      </a:dk2>
      <a:lt2>
        <a:srgbClr val="DFE0DF"/>
      </a:lt2>
      <a:accent1>
        <a:srgbClr val="2EC4B6"/>
      </a:accent1>
      <a:accent2>
        <a:srgbClr val="FF9F1C"/>
      </a:accent2>
      <a:accent3>
        <a:srgbClr val="4A5568"/>
      </a:accent3>
      <a:accent4>
        <a:srgbClr val="BFD8D5"/>
      </a:accent4>
      <a:accent5>
        <a:srgbClr val="9AA0A6"/>
      </a:accent5>
      <a:accent6>
        <a:srgbClr val="6E768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